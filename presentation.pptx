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65"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0C08FE-36DE-9543-A710-E8D1FA3CA9AE}" v="126" dt="2026-07-24T05:08:15.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62"/>
    <p:restoredTop sz="95856"/>
  </p:normalViewPr>
  <p:slideViewPr>
    <p:cSldViewPr snapToGrid="0">
      <p:cViewPr varScale="1">
        <p:scale>
          <a:sx n="121" d="100"/>
          <a:sy n="121" d="100"/>
        </p:scale>
        <p:origin x="352"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98ACA8-4AF9-4C75-A05A-287EF6B5FF7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B2D5246-2770-4D54-94FF-1207D2EC8A61}">
      <dgm:prSet/>
      <dgm:spPr/>
      <dgm:t>
        <a:bodyPr/>
        <a:lstStyle/>
        <a:p>
          <a:r>
            <a:rPr lang="en-US" b="1" u="sng" dirty="0"/>
            <a:t>Challenges</a:t>
          </a:r>
          <a:endParaRPr lang="en-US" dirty="0"/>
        </a:p>
      </dgm:t>
    </dgm:pt>
    <dgm:pt modelId="{51C4CFC5-F175-4216-B908-016184CB3C1D}" type="parTrans" cxnId="{256DF874-21B8-4E68-B294-1C623EC94EB8}">
      <dgm:prSet/>
      <dgm:spPr/>
      <dgm:t>
        <a:bodyPr/>
        <a:lstStyle/>
        <a:p>
          <a:endParaRPr lang="en-US"/>
        </a:p>
      </dgm:t>
    </dgm:pt>
    <dgm:pt modelId="{FFBB8F4B-0C41-4BE2-B3CF-3B425051A83D}" type="sibTrans" cxnId="{256DF874-21B8-4E68-B294-1C623EC94EB8}">
      <dgm:prSet/>
      <dgm:spPr/>
      <dgm:t>
        <a:bodyPr/>
        <a:lstStyle/>
        <a:p>
          <a:endParaRPr lang="en-US"/>
        </a:p>
      </dgm:t>
    </dgm:pt>
    <dgm:pt modelId="{CA3586E7-C123-4865-91DA-90C2401048E2}">
      <dgm:prSet/>
      <dgm:spPr/>
      <dgm:t>
        <a:bodyPr/>
        <a:lstStyle/>
        <a:p>
          <a:r>
            <a:rPr lang="en-US" dirty="0"/>
            <a:t>📄 Large amounts of patient data</a:t>
          </a:r>
        </a:p>
      </dgm:t>
    </dgm:pt>
    <dgm:pt modelId="{02F311B6-8481-433E-A3A5-5098FEAAC6A3}" type="parTrans" cxnId="{27950E2F-8BAD-44FC-9132-10A3B292D685}">
      <dgm:prSet/>
      <dgm:spPr/>
      <dgm:t>
        <a:bodyPr/>
        <a:lstStyle/>
        <a:p>
          <a:endParaRPr lang="en-US"/>
        </a:p>
      </dgm:t>
    </dgm:pt>
    <dgm:pt modelId="{42AD2220-2E35-4B61-A3D0-A7F8083F7033}" type="sibTrans" cxnId="{27950E2F-8BAD-44FC-9132-10A3B292D685}">
      <dgm:prSet/>
      <dgm:spPr/>
      <dgm:t>
        <a:bodyPr/>
        <a:lstStyle/>
        <a:p>
          <a:endParaRPr lang="en-US"/>
        </a:p>
      </dgm:t>
    </dgm:pt>
    <dgm:pt modelId="{EB9777C6-40D2-4F61-804F-F25B05A99106}">
      <dgm:prSet/>
      <dgm:spPr/>
      <dgm:t>
        <a:bodyPr/>
        <a:lstStyle/>
        <a:p>
          <a:r>
            <a:rPr lang="en-US" dirty="0"/>
            <a:t>⏳ Manual chart review</a:t>
          </a:r>
        </a:p>
      </dgm:t>
    </dgm:pt>
    <dgm:pt modelId="{1D5A8210-2E32-4BA9-AFBA-240C16408547}" type="parTrans" cxnId="{A145F34A-D0BC-42D4-A2DB-6912AE28C800}">
      <dgm:prSet/>
      <dgm:spPr/>
      <dgm:t>
        <a:bodyPr/>
        <a:lstStyle/>
        <a:p>
          <a:endParaRPr lang="en-US"/>
        </a:p>
      </dgm:t>
    </dgm:pt>
    <dgm:pt modelId="{8DD027E2-1C8B-46CD-94DD-40E66B87F791}" type="sibTrans" cxnId="{A145F34A-D0BC-42D4-A2DB-6912AE28C800}">
      <dgm:prSet/>
      <dgm:spPr/>
      <dgm:t>
        <a:bodyPr/>
        <a:lstStyle/>
        <a:p>
          <a:endParaRPr lang="en-US"/>
        </a:p>
      </dgm:t>
    </dgm:pt>
    <dgm:pt modelId="{50E7E356-85B5-4604-87CF-40E71B6B51CB}">
      <dgm:prSet/>
      <dgm:spPr/>
      <dgm:t>
        <a:bodyPr/>
        <a:lstStyle/>
        <a:p>
          <a:r>
            <a:rPr lang="en-US"/>
            <a:t>⚠️ High-risk patients</a:t>
          </a:r>
        </a:p>
      </dgm:t>
    </dgm:pt>
    <dgm:pt modelId="{7540B3C2-39C3-4B45-A674-7AF353500441}" type="parTrans" cxnId="{58975D04-2E4B-4B34-9098-8CFB79220527}">
      <dgm:prSet/>
      <dgm:spPr/>
      <dgm:t>
        <a:bodyPr/>
        <a:lstStyle/>
        <a:p>
          <a:endParaRPr lang="en-US"/>
        </a:p>
      </dgm:t>
    </dgm:pt>
    <dgm:pt modelId="{B177FDA3-A65E-47DD-B22D-6EC0655BF2E0}" type="sibTrans" cxnId="{58975D04-2E4B-4B34-9098-8CFB79220527}">
      <dgm:prSet/>
      <dgm:spPr/>
      <dgm:t>
        <a:bodyPr/>
        <a:lstStyle/>
        <a:p>
          <a:endParaRPr lang="en-US"/>
        </a:p>
      </dgm:t>
    </dgm:pt>
    <dgm:pt modelId="{3907AC6D-3B1B-4FA9-ADAC-D40B75ECF2AE}">
      <dgm:prSet/>
      <dgm:spPr/>
      <dgm:t>
        <a:bodyPr/>
        <a:lstStyle/>
        <a:p>
          <a:r>
            <a:rPr lang="en-US" dirty="0"/>
            <a:t>💰 Documentation &amp; Payment Integrity</a:t>
          </a:r>
        </a:p>
      </dgm:t>
    </dgm:pt>
    <dgm:pt modelId="{4581227A-D3CD-4DFD-A7E1-C87FA5672922}" type="parTrans" cxnId="{A5FBEA1D-B9BF-45FA-9CD6-90F9E6802C01}">
      <dgm:prSet/>
      <dgm:spPr/>
      <dgm:t>
        <a:bodyPr/>
        <a:lstStyle/>
        <a:p>
          <a:endParaRPr lang="en-US"/>
        </a:p>
      </dgm:t>
    </dgm:pt>
    <dgm:pt modelId="{75CC25E8-3437-4EE5-9F4C-1D2713AD5334}" type="sibTrans" cxnId="{A5FBEA1D-B9BF-45FA-9CD6-90F9E6802C01}">
      <dgm:prSet/>
      <dgm:spPr/>
      <dgm:t>
        <a:bodyPr/>
        <a:lstStyle/>
        <a:p>
          <a:endParaRPr lang="en-US"/>
        </a:p>
      </dgm:t>
    </dgm:pt>
    <dgm:pt modelId="{5361B7C7-5FAE-0747-8B59-5ACAD7302CA4}" type="pres">
      <dgm:prSet presAssocID="{1398ACA8-4AF9-4C75-A05A-287EF6B5FF7C}" presName="vert0" presStyleCnt="0">
        <dgm:presLayoutVars>
          <dgm:dir/>
          <dgm:animOne val="branch"/>
          <dgm:animLvl val="lvl"/>
        </dgm:presLayoutVars>
      </dgm:prSet>
      <dgm:spPr/>
    </dgm:pt>
    <dgm:pt modelId="{93EB8D6B-C265-5F46-B8CC-56F192D58C7E}" type="pres">
      <dgm:prSet presAssocID="{FB2D5246-2770-4D54-94FF-1207D2EC8A61}" presName="thickLine" presStyleLbl="alignNode1" presStyleIdx="0" presStyleCnt="1"/>
      <dgm:spPr/>
    </dgm:pt>
    <dgm:pt modelId="{D8089F05-1C4E-BE40-8D98-07C3642DB697}" type="pres">
      <dgm:prSet presAssocID="{FB2D5246-2770-4D54-94FF-1207D2EC8A61}" presName="horz1" presStyleCnt="0"/>
      <dgm:spPr/>
    </dgm:pt>
    <dgm:pt modelId="{6C9DF6D9-1BD5-CC4C-B50B-59C2DD365015}" type="pres">
      <dgm:prSet presAssocID="{FB2D5246-2770-4D54-94FF-1207D2EC8A61}" presName="tx1" presStyleLbl="revTx" presStyleIdx="0" presStyleCnt="5"/>
      <dgm:spPr/>
    </dgm:pt>
    <dgm:pt modelId="{4A775197-83A4-D24F-9D33-D38880CC1C8F}" type="pres">
      <dgm:prSet presAssocID="{FB2D5246-2770-4D54-94FF-1207D2EC8A61}" presName="vert1" presStyleCnt="0"/>
      <dgm:spPr/>
    </dgm:pt>
    <dgm:pt modelId="{FCB731FD-3A35-4846-B06C-3FDE799593D8}" type="pres">
      <dgm:prSet presAssocID="{CA3586E7-C123-4865-91DA-90C2401048E2}" presName="vertSpace2a" presStyleCnt="0"/>
      <dgm:spPr/>
    </dgm:pt>
    <dgm:pt modelId="{49D08275-67FB-4348-AEF7-67F47A01909D}" type="pres">
      <dgm:prSet presAssocID="{CA3586E7-C123-4865-91DA-90C2401048E2}" presName="horz2" presStyleCnt="0"/>
      <dgm:spPr/>
    </dgm:pt>
    <dgm:pt modelId="{C1B328EC-489E-4E4B-A887-C15BE6874DCC}" type="pres">
      <dgm:prSet presAssocID="{CA3586E7-C123-4865-91DA-90C2401048E2}" presName="horzSpace2" presStyleCnt="0"/>
      <dgm:spPr/>
    </dgm:pt>
    <dgm:pt modelId="{58F09121-780B-6F41-8F8E-7B062228EF9C}" type="pres">
      <dgm:prSet presAssocID="{CA3586E7-C123-4865-91DA-90C2401048E2}" presName="tx2" presStyleLbl="revTx" presStyleIdx="1" presStyleCnt="5"/>
      <dgm:spPr/>
    </dgm:pt>
    <dgm:pt modelId="{DB6C7FA3-188B-B645-937C-124B40812619}" type="pres">
      <dgm:prSet presAssocID="{CA3586E7-C123-4865-91DA-90C2401048E2}" presName="vert2" presStyleCnt="0"/>
      <dgm:spPr/>
    </dgm:pt>
    <dgm:pt modelId="{C0925E47-2BB7-154C-BF25-F47345E29F94}" type="pres">
      <dgm:prSet presAssocID="{CA3586E7-C123-4865-91DA-90C2401048E2}" presName="thinLine2b" presStyleLbl="callout" presStyleIdx="0" presStyleCnt="4"/>
      <dgm:spPr/>
    </dgm:pt>
    <dgm:pt modelId="{C9866DF0-D20E-5C49-9484-BCF6D62496CF}" type="pres">
      <dgm:prSet presAssocID="{CA3586E7-C123-4865-91DA-90C2401048E2}" presName="vertSpace2b" presStyleCnt="0"/>
      <dgm:spPr/>
    </dgm:pt>
    <dgm:pt modelId="{A3E289BD-0FB1-7844-BFDF-E7D96CCC615B}" type="pres">
      <dgm:prSet presAssocID="{EB9777C6-40D2-4F61-804F-F25B05A99106}" presName="horz2" presStyleCnt="0"/>
      <dgm:spPr/>
    </dgm:pt>
    <dgm:pt modelId="{C169C26D-C60A-A241-99CA-76DA230ED0FE}" type="pres">
      <dgm:prSet presAssocID="{EB9777C6-40D2-4F61-804F-F25B05A99106}" presName="horzSpace2" presStyleCnt="0"/>
      <dgm:spPr/>
    </dgm:pt>
    <dgm:pt modelId="{FB4063F1-4E46-4140-A97A-FCB8EAD95D14}" type="pres">
      <dgm:prSet presAssocID="{EB9777C6-40D2-4F61-804F-F25B05A99106}" presName="tx2" presStyleLbl="revTx" presStyleIdx="2" presStyleCnt="5"/>
      <dgm:spPr/>
    </dgm:pt>
    <dgm:pt modelId="{E3B4F5C9-69D8-9F49-B7B4-312846DD6016}" type="pres">
      <dgm:prSet presAssocID="{EB9777C6-40D2-4F61-804F-F25B05A99106}" presName="vert2" presStyleCnt="0"/>
      <dgm:spPr/>
    </dgm:pt>
    <dgm:pt modelId="{12EAA37C-202F-C048-B6CC-515814DCC4DB}" type="pres">
      <dgm:prSet presAssocID="{EB9777C6-40D2-4F61-804F-F25B05A99106}" presName="thinLine2b" presStyleLbl="callout" presStyleIdx="1" presStyleCnt="4"/>
      <dgm:spPr/>
    </dgm:pt>
    <dgm:pt modelId="{A160EC01-93A8-064A-925D-6D9869E91A01}" type="pres">
      <dgm:prSet presAssocID="{EB9777C6-40D2-4F61-804F-F25B05A99106}" presName="vertSpace2b" presStyleCnt="0"/>
      <dgm:spPr/>
    </dgm:pt>
    <dgm:pt modelId="{352D4701-C323-4142-8C68-CC0EB8472ED1}" type="pres">
      <dgm:prSet presAssocID="{50E7E356-85B5-4604-87CF-40E71B6B51CB}" presName="horz2" presStyleCnt="0"/>
      <dgm:spPr/>
    </dgm:pt>
    <dgm:pt modelId="{F3101B19-3CFB-7E47-8952-9EF2D6F03978}" type="pres">
      <dgm:prSet presAssocID="{50E7E356-85B5-4604-87CF-40E71B6B51CB}" presName="horzSpace2" presStyleCnt="0"/>
      <dgm:spPr/>
    </dgm:pt>
    <dgm:pt modelId="{786DE59F-5198-9441-A040-FF2C0BA58447}" type="pres">
      <dgm:prSet presAssocID="{50E7E356-85B5-4604-87CF-40E71B6B51CB}" presName="tx2" presStyleLbl="revTx" presStyleIdx="3" presStyleCnt="5"/>
      <dgm:spPr/>
    </dgm:pt>
    <dgm:pt modelId="{E3E48FED-587C-ED42-BDEF-5674FEFB44FA}" type="pres">
      <dgm:prSet presAssocID="{50E7E356-85B5-4604-87CF-40E71B6B51CB}" presName="vert2" presStyleCnt="0"/>
      <dgm:spPr/>
    </dgm:pt>
    <dgm:pt modelId="{41026EC1-C985-FC43-8439-E6B2C4F43899}" type="pres">
      <dgm:prSet presAssocID="{50E7E356-85B5-4604-87CF-40E71B6B51CB}" presName="thinLine2b" presStyleLbl="callout" presStyleIdx="2" presStyleCnt="4"/>
      <dgm:spPr/>
    </dgm:pt>
    <dgm:pt modelId="{DD8FBFB5-2359-0547-9743-CAC4444D7091}" type="pres">
      <dgm:prSet presAssocID="{50E7E356-85B5-4604-87CF-40E71B6B51CB}" presName="vertSpace2b" presStyleCnt="0"/>
      <dgm:spPr/>
    </dgm:pt>
    <dgm:pt modelId="{128B0639-95B4-674F-B1E5-A4A4A68C565E}" type="pres">
      <dgm:prSet presAssocID="{3907AC6D-3B1B-4FA9-ADAC-D40B75ECF2AE}" presName="horz2" presStyleCnt="0"/>
      <dgm:spPr/>
    </dgm:pt>
    <dgm:pt modelId="{F8FFF6BF-1BB4-E649-8B5F-36946D548EB3}" type="pres">
      <dgm:prSet presAssocID="{3907AC6D-3B1B-4FA9-ADAC-D40B75ECF2AE}" presName="horzSpace2" presStyleCnt="0"/>
      <dgm:spPr/>
    </dgm:pt>
    <dgm:pt modelId="{4832842F-A53A-0F43-A2D5-E6B43BEF33EE}" type="pres">
      <dgm:prSet presAssocID="{3907AC6D-3B1B-4FA9-ADAC-D40B75ECF2AE}" presName="tx2" presStyleLbl="revTx" presStyleIdx="4" presStyleCnt="5"/>
      <dgm:spPr/>
    </dgm:pt>
    <dgm:pt modelId="{41A11763-1F68-2242-BF22-119C5640293A}" type="pres">
      <dgm:prSet presAssocID="{3907AC6D-3B1B-4FA9-ADAC-D40B75ECF2AE}" presName="vert2" presStyleCnt="0"/>
      <dgm:spPr/>
    </dgm:pt>
    <dgm:pt modelId="{8DA1AFF1-0052-C44E-83D6-31E144E0639F}" type="pres">
      <dgm:prSet presAssocID="{3907AC6D-3B1B-4FA9-ADAC-D40B75ECF2AE}" presName="thinLine2b" presStyleLbl="callout" presStyleIdx="3" presStyleCnt="4"/>
      <dgm:spPr/>
    </dgm:pt>
    <dgm:pt modelId="{67B4397D-396C-2F47-A66E-4414C8F31CCD}" type="pres">
      <dgm:prSet presAssocID="{3907AC6D-3B1B-4FA9-ADAC-D40B75ECF2AE}" presName="vertSpace2b" presStyleCnt="0"/>
      <dgm:spPr/>
    </dgm:pt>
  </dgm:ptLst>
  <dgm:cxnLst>
    <dgm:cxn modelId="{58975D04-2E4B-4B34-9098-8CFB79220527}" srcId="{FB2D5246-2770-4D54-94FF-1207D2EC8A61}" destId="{50E7E356-85B5-4604-87CF-40E71B6B51CB}" srcOrd="2" destOrd="0" parTransId="{7540B3C2-39C3-4B45-A674-7AF353500441}" sibTransId="{B177FDA3-A65E-47DD-B22D-6EC0655BF2E0}"/>
    <dgm:cxn modelId="{6765C016-9285-7845-81B7-B60D46AB763B}" type="presOf" srcId="{FB2D5246-2770-4D54-94FF-1207D2EC8A61}" destId="{6C9DF6D9-1BD5-CC4C-B50B-59C2DD365015}" srcOrd="0" destOrd="0" presId="urn:microsoft.com/office/officeart/2008/layout/LinedList"/>
    <dgm:cxn modelId="{A5FBEA1D-B9BF-45FA-9CD6-90F9E6802C01}" srcId="{FB2D5246-2770-4D54-94FF-1207D2EC8A61}" destId="{3907AC6D-3B1B-4FA9-ADAC-D40B75ECF2AE}" srcOrd="3" destOrd="0" parTransId="{4581227A-D3CD-4DFD-A7E1-C87FA5672922}" sibTransId="{75CC25E8-3437-4EE5-9F4C-1D2713AD5334}"/>
    <dgm:cxn modelId="{27950E2F-8BAD-44FC-9132-10A3B292D685}" srcId="{FB2D5246-2770-4D54-94FF-1207D2EC8A61}" destId="{CA3586E7-C123-4865-91DA-90C2401048E2}" srcOrd="0" destOrd="0" parTransId="{02F311B6-8481-433E-A3A5-5098FEAAC6A3}" sibTransId="{42AD2220-2E35-4B61-A3D0-A7F8083F7033}"/>
    <dgm:cxn modelId="{BAEE6134-A580-8E47-ACA3-9BD77CDD3053}" type="presOf" srcId="{CA3586E7-C123-4865-91DA-90C2401048E2}" destId="{58F09121-780B-6F41-8F8E-7B062228EF9C}" srcOrd="0" destOrd="0" presId="urn:microsoft.com/office/officeart/2008/layout/LinedList"/>
    <dgm:cxn modelId="{A145F34A-D0BC-42D4-A2DB-6912AE28C800}" srcId="{FB2D5246-2770-4D54-94FF-1207D2EC8A61}" destId="{EB9777C6-40D2-4F61-804F-F25B05A99106}" srcOrd="1" destOrd="0" parTransId="{1D5A8210-2E32-4BA9-AFBA-240C16408547}" sibTransId="{8DD027E2-1C8B-46CD-94DD-40E66B87F791}"/>
    <dgm:cxn modelId="{256DF874-21B8-4E68-B294-1C623EC94EB8}" srcId="{1398ACA8-4AF9-4C75-A05A-287EF6B5FF7C}" destId="{FB2D5246-2770-4D54-94FF-1207D2EC8A61}" srcOrd="0" destOrd="0" parTransId="{51C4CFC5-F175-4216-B908-016184CB3C1D}" sibTransId="{FFBB8F4B-0C41-4BE2-B3CF-3B425051A83D}"/>
    <dgm:cxn modelId="{11DCE675-E1C0-5345-A02D-A274C4046AF9}" type="presOf" srcId="{1398ACA8-4AF9-4C75-A05A-287EF6B5FF7C}" destId="{5361B7C7-5FAE-0747-8B59-5ACAD7302CA4}" srcOrd="0" destOrd="0" presId="urn:microsoft.com/office/officeart/2008/layout/LinedList"/>
    <dgm:cxn modelId="{1DDC177B-61E3-2F4F-BAF3-426D60B8CD3D}" type="presOf" srcId="{3907AC6D-3B1B-4FA9-ADAC-D40B75ECF2AE}" destId="{4832842F-A53A-0F43-A2D5-E6B43BEF33EE}" srcOrd="0" destOrd="0" presId="urn:microsoft.com/office/officeart/2008/layout/LinedList"/>
    <dgm:cxn modelId="{DB71AEAE-A634-364C-B632-937EA21C2AD9}" type="presOf" srcId="{50E7E356-85B5-4604-87CF-40E71B6B51CB}" destId="{786DE59F-5198-9441-A040-FF2C0BA58447}" srcOrd="0" destOrd="0" presId="urn:microsoft.com/office/officeart/2008/layout/LinedList"/>
    <dgm:cxn modelId="{1551ECD3-F4E6-C144-9A39-7E04D1A6A597}" type="presOf" srcId="{EB9777C6-40D2-4F61-804F-F25B05A99106}" destId="{FB4063F1-4E46-4140-A97A-FCB8EAD95D14}" srcOrd="0" destOrd="0" presId="urn:microsoft.com/office/officeart/2008/layout/LinedList"/>
    <dgm:cxn modelId="{4BA0E755-8374-854F-81CD-259E19E8FCEA}" type="presParOf" srcId="{5361B7C7-5FAE-0747-8B59-5ACAD7302CA4}" destId="{93EB8D6B-C265-5F46-B8CC-56F192D58C7E}" srcOrd="0" destOrd="0" presId="urn:microsoft.com/office/officeart/2008/layout/LinedList"/>
    <dgm:cxn modelId="{23BABF12-FD8E-3E48-9C37-6E9AA3E3CE27}" type="presParOf" srcId="{5361B7C7-5FAE-0747-8B59-5ACAD7302CA4}" destId="{D8089F05-1C4E-BE40-8D98-07C3642DB697}" srcOrd="1" destOrd="0" presId="urn:microsoft.com/office/officeart/2008/layout/LinedList"/>
    <dgm:cxn modelId="{48257CE2-614F-B34F-AECD-C584927E6817}" type="presParOf" srcId="{D8089F05-1C4E-BE40-8D98-07C3642DB697}" destId="{6C9DF6D9-1BD5-CC4C-B50B-59C2DD365015}" srcOrd="0" destOrd="0" presId="urn:microsoft.com/office/officeart/2008/layout/LinedList"/>
    <dgm:cxn modelId="{18D66946-020B-9B4D-8A25-CBA8BA984101}" type="presParOf" srcId="{D8089F05-1C4E-BE40-8D98-07C3642DB697}" destId="{4A775197-83A4-D24F-9D33-D38880CC1C8F}" srcOrd="1" destOrd="0" presId="urn:microsoft.com/office/officeart/2008/layout/LinedList"/>
    <dgm:cxn modelId="{5CCB01D3-1799-814A-A44C-D59A3BA2C4C1}" type="presParOf" srcId="{4A775197-83A4-D24F-9D33-D38880CC1C8F}" destId="{FCB731FD-3A35-4846-B06C-3FDE799593D8}" srcOrd="0" destOrd="0" presId="urn:microsoft.com/office/officeart/2008/layout/LinedList"/>
    <dgm:cxn modelId="{E3B1187D-6862-6641-A7BD-B4F58E5069C7}" type="presParOf" srcId="{4A775197-83A4-D24F-9D33-D38880CC1C8F}" destId="{49D08275-67FB-4348-AEF7-67F47A01909D}" srcOrd="1" destOrd="0" presId="urn:microsoft.com/office/officeart/2008/layout/LinedList"/>
    <dgm:cxn modelId="{5EB91DCF-BF9B-224F-8E5B-7B37CF81C2DB}" type="presParOf" srcId="{49D08275-67FB-4348-AEF7-67F47A01909D}" destId="{C1B328EC-489E-4E4B-A887-C15BE6874DCC}" srcOrd="0" destOrd="0" presId="urn:microsoft.com/office/officeart/2008/layout/LinedList"/>
    <dgm:cxn modelId="{3FE9C036-8B5A-3A4F-831D-BE9C75C4B652}" type="presParOf" srcId="{49D08275-67FB-4348-AEF7-67F47A01909D}" destId="{58F09121-780B-6F41-8F8E-7B062228EF9C}" srcOrd="1" destOrd="0" presId="urn:microsoft.com/office/officeart/2008/layout/LinedList"/>
    <dgm:cxn modelId="{EE54BE94-A8AB-7C47-9D40-CBF4EAEF40B2}" type="presParOf" srcId="{49D08275-67FB-4348-AEF7-67F47A01909D}" destId="{DB6C7FA3-188B-B645-937C-124B40812619}" srcOrd="2" destOrd="0" presId="urn:microsoft.com/office/officeart/2008/layout/LinedList"/>
    <dgm:cxn modelId="{987F0767-5BC5-D54F-978B-6DC9CA0F3CC2}" type="presParOf" srcId="{4A775197-83A4-D24F-9D33-D38880CC1C8F}" destId="{C0925E47-2BB7-154C-BF25-F47345E29F94}" srcOrd="2" destOrd="0" presId="urn:microsoft.com/office/officeart/2008/layout/LinedList"/>
    <dgm:cxn modelId="{6DBFAB65-3938-D843-BD96-BF6B7B544087}" type="presParOf" srcId="{4A775197-83A4-D24F-9D33-D38880CC1C8F}" destId="{C9866DF0-D20E-5C49-9484-BCF6D62496CF}" srcOrd="3" destOrd="0" presId="urn:microsoft.com/office/officeart/2008/layout/LinedList"/>
    <dgm:cxn modelId="{2B2BB018-F6F8-8F43-BD9B-D3201D73DAEF}" type="presParOf" srcId="{4A775197-83A4-D24F-9D33-D38880CC1C8F}" destId="{A3E289BD-0FB1-7844-BFDF-E7D96CCC615B}" srcOrd="4" destOrd="0" presId="urn:microsoft.com/office/officeart/2008/layout/LinedList"/>
    <dgm:cxn modelId="{6E004D28-F44A-BF48-A65B-1E37E02C3D8D}" type="presParOf" srcId="{A3E289BD-0FB1-7844-BFDF-E7D96CCC615B}" destId="{C169C26D-C60A-A241-99CA-76DA230ED0FE}" srcOrd="0" destOrd="0" presId="urn:microsoft.com/office/officeart/2008/layout/LinedList"/>
    <dgm:cxn modelId="{DF597FAD-C60E-C947-87DD-364E596C7FEF}" type="presParOf" srcId="{A3E289BD-0FB1-7844-BFDF-E7D96CCC615B}" destId="{FB4063F1-4E46-4140-A97A-FCB8EAD95D14}" srcOrd="1" destOrd="0" presId="urn:microsoft.com/office/officeart/2008/layout/LinedList"/>
    <dgm:cxn modelId="{EAE84B27-FE44-0A49-BE07-9F4093132D49}" type="presParOf" srcId="{A3E289BD-0FB1-7844-BFDF-E7D96CCC615B}" destId="{E3B4F5C9-69D8-9F49-B7B4-312846DD6016}" srcOrd="2" destOrd="0" presId="urn:microsoft.com/office/officeart/2008/layout/LinedList"/>
    <dgm:cxn modelId="{5B0C6CA7-B672-1541-853D-F27F5BA2074F}" type="presParOf" srcId="{4A775197-83A4-D24F-9D33-D38880CC1C8F}" destId="{12EAA37C-202F-C048-B6CC-515814DCC4DB}" srcOrd="5" destOrd="0" presId="urn:microsoft.com/office/officeart/2008/layout/LinedList"/>
    <dgm:cxn modelId="{B8057A28-0095-384A-9A27-259E4D5586F8}" type="presParOf" srcId="{4A775197-83A4-D24F-9D33-D38880CC1C8F}" destId="{A160EC01-93A8-064A-925D-6D9869E91A01}" srcOrd="6" destOrd="0" presId="urn:microsoft.com/office/officeart/2008/layout/LinedList"/>
    <dgm:cxn modelId="{49CB870A-9917-7446-98E7-4F1B26595C1B}" type="presParOf" srcId="{4A775197-83A4-D24F-9D33-D38880CC1C8F}" destId="{352D4701-C323-4142-8C68-CC0EB8472ED1}" srcOrd="7" destOrd="0" presId="urn:microsoft.com/office/officeart/2008/layout/LinedList"/>
    <dgm:cxn modelId="{12A28A15-16F7-5D46-AE37-0B2E2386CB58}" type="presParOf" srcId="{352D4701-C323-4142-8C68-CC0EB8472ED1}" destId="{F3101B19-3CFB-7E47-8952-9EF2D6F03978}" srcOrd="0" destOrd="0" presId="urn:microsoft.com/office/officeart/2008/layout/LinedList"/>
    <dgm:cxn modelId="{F4A34793-1E74-9945-81C2-034472EDB636}" type="presParOf" srcId="{352D4701-C323-4142-8C68-CC0EB8472ED1}" destId="{786DE59F-5198-9441-A040-FF2C0BA58447}" srcOrd="1" destOrd="0" presId="urn:microsoft.com/office/officeart/2008/layout/LinedList"/>
    <dgm:cxn modelId="{9D52E5CB-15B2-3341-9C55-FEEF21DCA16C}" type="presParOf" srcId="{352D4701-C323-4142-8C68-CC0EB8472ED1}" destId="{E3E48FED-587C-ED42-BDEF-5674FEFB44FA}" srcOrd="2" destOrd="0" presId="urn:microsoft.com/office/officeart/2008/layout/LinedList"/>
    <dgm:cxn modelId="{E8876DD3-A9AE-0D45-B182-ED43BEF74191}" type="presParOf" srcId="{4A775197-83A4-D24F-9D33-D38880CC1C8F}" destId="{41026EC1-C985-FC43-8439-E6B2C4F43899}" srcOrd="8" destOrd="0" presId="urn:microsoft.com/office/officeart/2008/layout/LinedList"/>
    <dgm:cxn modelId="{8A20EB6E-94DF-A34B-A7D9-959F113131C2}" type="presParOf" srcId="{4A775197-83A4-D24F-9D33-D38880CC1C8F}" destId="{DD8FBFB5-2359-0547-9743-CAC4444D7091}" srcOrd="9" destOrd="0" presId="urn:microsoft.com/office/officeart/2008/layout/LinedList"/>
    <dgm:cxn modelId="{F63E5FDE-53BA-0C47-95E0-F0993B636F92}" type="presParOf" srcId="{4A775197-83A4-D24F-9D33-D38880CC1C8F}" destId="{128B0639-95B4-674F-B1E5-A4A4A68C565E}" srcOrd="10" destOrd="0" presId="urn:microsoft.com/office/officeart/2008/layout/LinedList"/>
    <dgm:cxn modelId="{AF79117A-AD26-EA48-AD8C-8C0634B51838}" type="presParOf" srcId="{128B0639-95B4-674F-B1E5-A4A4A68C565E}" destId="{F8FFF6BF-1BB4-E649-8B5F-36946D548EB3}" srcOrd="0" destOrd="0" presId="urn:microsoft.com/office/officeart/2008/layout/LinedList"/>
    <dgm:cxn modelId="{0E3C097E-03DC-5C46-8FE8-3440169DCDBE}" type="presParOf" srcId="{128B0639-95B4-674F-B1E5-A4A4A68C565E}" destId="{4832842F-A53A-0F43-A2D5-E6B43BEF33EE}" srcOrd="1" destOrd="0" presId="urn:microsoft.com/office/officeart/2008/layout/LinedList"/>
    <dgm:cxn modelId="{D8BA91B3-BC68-1C41-A5A7-C9B5B4DFDF35}" type="presParOf" srcId="{128B0639-95B4-674F-B1E5-A4A4A68C565E}" destId="{41A11763-1F68-2242-BF22-119C5640293A}" srcOrd="2" destOrd="0" presId="urn:microsoft.com/office/officeart/2008/layout/LinedList"/>
    <dgm:cxn modelId="{F8DC8667-FD14-0C44-8C3C-2B16F5B85F7E}" type="presParOf" srcId="{4A775197-83A4-D24F-9D33-D38880CC1C8F}" destId="{8DA1AFF1-0052-C44E-83D6-31E144E0639F}" srcOrd="11" destOrd="0" presId="urn:microsoft.com/office/officeart/2008/layout/LinedList"/>
    <dgm:cxn modelId="{9BFCDD5C-46E7-7E4A-AEF0-9F625924E3C7}" type="presParOf" srcId="{4A775197-83A4-D24F-9D33-D38880CC1C8F}" destId="{67B4397D-396C-2F47-A66E-4414C8F31CCD}" srcOrd="12"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AA859E-DB5D-4A2D-93C0-6E7048213F0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B6D7E24-C84A-4D81-A17D-7B47B0CF7458}">
      <dgm:prSet/>
      <dgm:spPr/>
      <dgm:t>
        <a:bodyPr/>
        <a:lstStyle/>
        <a:p>
          <a:pPr>
            <a:lnSpc>
              <a:spcPct val="100000"/>
            </a:lnSpc>
          </a:pPr>
          <a:r>
            <a:rPr lang="en-US" dirty="0"/>
            <a:t>Built a Clinical Intelligence Dashboard </a:t>
          </a:r>
        </a:p>
      </dgm:t>
    </dgm:pt>
    <dgm:pt modelId="{257F1F68-C490-448D-9825-654558512801}" type="parTrans" cxnId="{DD695F5F-22A8-40A0-8981-F9B8F973EE83}">
      <dgm:prSet/>
      <dgm:spPr/>
      <dgm:t>
        <a:bodyPr/>
        <a:lstStyle/>
        <a:p>
          <a:endParaRPr lang="en-US"/>
        </a:p>
      </dgm:t>
    </dgm:pt>
    <dgm:pt modelId="{9EB0348E-FD7B-4867-B4BB-D3E563476481}" type="sibTrans" cxnId="{DD695F5F-22A8-40A0-8981-F9B8F973EE83}">
      <dgm:prSet/>
      <dgm:spPr/>
      <dgm:t>
        <a:bodyPr/>
        <a:lstStyle/>
        <a:p>
          <a:pPr>
            <a:lnSpc>
              <a:spcPct val="100000"/>
            </a:lnSpc>
          </a:pPr>
          <a:endParaRPr lang="en-US"/>
        </a:p>
      </dgm:t>
    </dgm:pt>
    <dgm:pt modelId="{E47035B8-1EDD-4B6A-9D99-BF45FAC1C310}">
      <dgm:prSet/>
      <dgm:spPr/>
      <dgm:t>
        <a:bodyPr/>
        <a:lstStyle/>
        <a:p>
          <a:pPr>
            <a:lnSpc>
              <a:spcPct val="100000"/>
            </a:lnSpc>
          </a:pPr>
          <a:r>
            <a:rPr lang="en-US" dirty="0"/>
            <a:t>Demonstrated Clinical decision Support </a:t>
          </a:r>
        </a:p>
      </dgm:t>
    </dgm:pt>
    <dgm:pt modelId="{5F6F9E96-155B-4A6F-BE09-468E3E859B62}" type="parTrans" cxnId="{C290ECCA-4C89-41A8-B532-2FE4D08A6AC8}">
      <dgm:prSet/>
      <dgm:spPr/>
      <dgm:t>
        <a:bodyPr/>
        <a:lstStyle/>
        <a:p>
          <a:endParaRPr lang="en-US"/>
        </a:p>
      </dgm:t>
    </dgm:pt>
    <dgm:pt modelId="{7F9030DF-FFA4-4776-9709-A3EADCFB8D41}" type="sibTrans" cxnId="{C290ECCA-4C89-41A8-B532-2FE4D08A6AC8}">
      <dgm:prSet/>
      <dgm:spPr/>
      <dgm:t>
        <a:bodyPr/>
        <a:lstStyle/>
        <a:p>
          <a:pPr>
            <a:lnSpc>
              <a:spcPct val="100000"/>
            </a:lnSpc>
          </a:pPr>
          <a:endParaRPr lang="en-US"/>
        </a:p>
      </dgm:t>
    </dgm:pt>
    <dgm:pt modelId="{B10C0073-26EB-447E-97CA-06BD1C28C739}">
      <dgm:prSet/>
      <dgm:spPr/>
      <dgm:t>
        <a:bodyPr/>
        <a:lstStyle/>
        <a:p>
          <a:pPr>
            <a:lnSpc>
              <a:spcPct val="100000"/>
            </a:lnSpc>
          </a:pPr>
          <a:r>
            <a:rPr lang="en-US" dirty="0"/>
            <a:t>Supported Treatment, Payment &amp; Operations  </a:t>
          </a:r>
        </a:p>
      </dgm:t>
    </dgm:pt>
    <dgm:pt modelId="{8CF05E74-7E85-45F8-A592-6975BF319F24}" type="parTrans" cxnId="{C00C5B89-EF4D-4F81-9CEA-063B8A8884DD}">
      <dgm:prSet/>
      <dgm:spPr/>
      <dgm:t>
        <a:bodyPr/>
        <a:lstStyle/>
        <a:p>
          <a:endParaRPr lang="en-US"/>
        </a:p>
      </dgm:t>
    </dgm:pt>
    <dgm:pt modelId="{0A20D8F2-E594-4F73-80F7-0DA94F9EADF5}" type="sibTrans" cxnId="{C00C5B89-EF4D-4F81-9CEA-063B8A8884DD}">
      <dgm:prSet/>
      <dgm:spPr/>
      <dgm:t>
        <a:bodyPr/>
        <a:lstStyle/>
        <a:p>
          <a:endParaRPr lang="en-US"/>
        </a:p>
      </dgm:t>
    </dgm:pt>
    <dgm:pt modelId="{B6B83C9E-4EF6-4E2E-8385-5C38A86AA56E}" type="pres">
      <dgm:prSet presAssocID="{98AA859E-DB5D-4A2D-93C0-6E7048213F0B}" presName="root" presStyleCnt="0">
        <dgm:presLayoutVars>
          <dgm:dir/>
          <dgm:resizeHandles val="exact"/>
        </dgm:presLayoutVars>
      </dgm:prSet>
      <dgm:spPr/>
    </dgm:pt>
    <dgm:pt modelId="{CC632F40-1284-4E4B-B6FB-12CCBFC05A72}" type="pres">
      <dgm:prSet presAssocID="{98AA859E-DB5D-4A2D-93C0-6E7048213F0B}" presName="container" presStyleCnt="0">
        <dgm:presLayoutVars>
          <dgm:dir/>
          <dgm:resizeHandles val="exact"/>
        </dgm:presLayoutVars>
      </dgm:prSet>
      <dgm:spPr/>
    </dgm:pt>
    <dgm:pt modelId="{78D7F54F-B276-4F91-AA76-45FD49C7EFE4}" type="pres">
      <dgm:prSet presAssocID="{7B6D7E24-C84A-4D81-A17D-7B47B0CF7458}" presName="compNode" presStyleCnt="0"/>
      <dgm:spPr/>
    </dgm:pt>
    <dgm:pt modelId="{7C9869AF-3736-405C-AE2B-55697A66E0CE}" type="pres">
      <dgm:prSet presAssocID="{7B6D7E24-C84A-4D81-A17D-7B47B0CF7458}" presName="iconBgRect" presStyleLbl="bgShp" presStyleIdx="0" presStyleCnt="3" custLinFactNeighborX="261" custLinFactNeighborY="-98520"/>
      <dgm:spPr/>
    </dgm:pt>
    <dgm:pt modelId="{F06151FE-8DB1-44D4-AC02-4D566520B9FC}" type="pres">
      <dgm:prSet presAssocID="{7B6D7E24-C84A-4D81-A17D-7B47B0CF7458}" presName="iconRect" presStyleLbl="node1" presStyleIdx="0" presStyleCnt="3" custLinFactY="-75655" custLinFactNeighborX="3789" custLinFactNeighborY="-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5CE89C8C-499E-4700-9560-E8BE9E39AF7A}" type="pres">
      <dgm:prSet presAssocID="{7B6D7E24-C84A-4D81-A17D-7B47B0CF7458}" presName="spaceRect" presStyleCnt="0"/>
      <dgm:spPr/>
    </dgm:pt>
    <dgm:pt modelId="{1F5C0EDF-7685-4FE0-8C76-674D3BB8154E}" type="pres">
      <dgm:prSet presAssocID="{7B6D7E24-C84A-4D81-A17D-7B47B0CF7458}" presName="textRect" presStyleLbl="revTx" presStyleIdx="0" presStyleCnt="3" custLinFactNeighborY="-98520">
        <dgm:presLayoutVars>
          <dgm:chMax val="1"/>
          <dgm:chPref val="1"/>
        </dgm:presLayoutVars>
      </dgm:prSet>
      <dgm:spPr/>
    </dgm:pt>
    <dgm:pt modelId="{E545498E-0B70-4BFF-BC1F-F24C5CCB262C}" type="pres">
      <dgm:prSet presAssocID="{9EB0348E-FD7B-4867-B4BB-D3E563476481}" presName="sibTrans" presStyleLbl="sibTrans2D1" presStyleIdx="0" presStyleCnt="0"/>
      <dgm:spPr/>
    </dgm:pt>
    <dgm:pt modelId="{F8082572-A61B-4C8B-A875-46A5BCD7FF65}" type="pres">
      <dgm:prSet presAssocID="{E47035B8-1EDD-4B6A-9D99-BF45FAC1C310}" presName="compNode" presStyleCnt="0"/>
      <dgm:spPr/>
    </dgm:pt>
    <dgm:pt modelId="{8C8DF77B-5002-4169-BB76-8A5FCA0A708F}" type="pres">
      <dgm:prSet presAssocID="{E47035B8-1EDD-4B6A-9D99-BF45FAC1C310}" presName="iconBgRect" presStyleLbl="bgShp" presStyleIdx="1" presStyleCnt="3" custLinFactNeighborX="-9884" custLinFactNeighborY="-98520"/>
      <dgm:spPr/>
    </dgm:pt>
    <dgm:pt modelId="{C9352454-19BB-4CA4-B82A-EB3E40E994A0}" type="pres">
      <dgm:prSet presAssocID="{E47035B8-1EDD-4B6A-9D99-BF45FAC1C310}" presName="iconRect" presStyleLbl="node1" presStyleIdx="1" presStyleCnt="3" custFlipVert="0" custScaleX="99763" custScaleY="103455" custLinFactY="-73928" custLinFactNeighborX="-17042" custLinFactNeighborY="-1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13219698-377D-4B17-917B-C3574F9F1659}" type="pres">
      <dgm:prSet presAssocID="{E47035B8-1EDD-4B6A-9D99-BF45FAC1C310}" presName="spaceRect" presStyleCnt="0"/>
      <dgm:spPr/>
    </dgm:pt>
    <dgm:pt modelId="{E985E413-0541-4F58-9B5D-53D6B75D6065}" type="pres">
      <dgm:prSet presAssocID="{E47035B8-1EDD-4B6A-9D99-BF45FAC1C310}" presName="textRect" presStyleLbl="revTx" presStyleIdx="1" presStyleCnt="3" custLinFactNeighborX="102" custLinFactNeighborY="-98520">
        <dgm:presLayoutVars>
          <dgm:chMax val="1"/>
          <dgm:chPref val="1"/>
        </dgm:presLayoutVars>
      </dgm:prSet>
      <dgm:spPr/>
    </dgm:pt>
    <dgm:pt modelId="{AAE6E792-8F16-4B50-9E78-B07847A013EE}" type="pres">
      <dgm:prSet presAssocID="{7F9030DF-FFA4-4776-9709-A3EADCFB8D41}" presName="sibTrans" presStyleLbl="sibTrans2D1" presStyleIdx="0" presStyleCnt="0"/>
      <dgm:spPr/>
    </dgm:pt>
    <dgm:pt modelId="{E50EB690-F51A-4A70-895A-5F659F6EEDDA}" type="pres">
      <dgm:prSet presAssocID="{B10C0073-26EB-447E-97CA-06BD1C28C739}" presName="compNode" presStyleCnt="0"/>
      <dgm:spPr/>
    </dgm:pt>
    <dgm:pt modelId="{69BBE496-6864-4835-84D3-5CFBBA2C6D56}" type="pres">
      <dgm:prSet presAssocID="{B10C0073-26EB-447E-97CA-06BD1C28C739}" presName="iconBgRect" presStyleLbl="bgShp" presStyleIdx="2" presStyleCnt="3" custLinFactNeighborX="-14522" custLinFactNeighborY="-98520"/>
      <dgm:spPr/>
    </dgm:pt>
    <dgm:pt modelId="{9B4405DF-C2E6-4E63-A29F-121EFA925738}" type="pres">
      <dgm:prSet presAssocID="{B10C0073-26EB-447E-97CA-06BD1C28C739}" presName="iconRect" presStyleLbl="node1" presStyleIdx="2" presStyleCnt="3" custLinFactY="-69863" custLinFactNeighborX="-11368" custLinFactNeighborY="-1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nk Check"/>
        </a:ext>
      </dgm:extLst>
    </dgm:pt>
    <dgm:pt modelId="{E74F6614-EE4E-4843-9A57-425FBCD0DFCD}" type="pres">
      <dgm:prSet presAssocID="{B10C0073-26EB-447E-97CA-06BD1C28C739}" presName="spaceRect" presStyleCnt="0"/>
      <dgm:spPr/>
    </dgm:pt>
    <dgm:pt modelId="{EAC071FF-8FDF-4805-B6CD-1B1860AFC269}" type="pres">
      <dgm:prSet presAssocID="{B10C0073-26EB-447E-97CA-06BD1C28C739}" presName="textRect" presStyleLbl="revTx" presStyleIdx="2" presStyleCnt="3" custLinFactNeighborX="2431" custLinFactNeighborY="-98520">
        <dgm:presLayoutVars>
          <dgm:chMax val="1"/>
          <dgm:chPref val="1"/>
        </dgm:presLayoutVars>
      </dgm:prSet>
      <dgm:spPr/>
    </dgm:pt>
  </dgm:ptLst>
  <dgm:cxnLst>
    <dgm:cxn modelId="{DD695F5F-22A8-40A0-8981-F9B8F973EE83}" srcId="{98AA859E-DB5D-4A2D-93C0-6E7048213F0B}" destId="{7B6D7E24-C84A-4D81-A17D-7B47B0CF7458}" srcOrd="0" destOrd="0" parTransId="{257F1F68-C490-448D-9825-654558512801}" sibTransId="{9EB0348E-FD7B-4867-B4BB-D3E563476481}"/>
    <dgm:cxn modelId="{50FBA664-A403-48D4-B595-C9DD8132AB46}" type="presOf" srcId="{9EB0348E-FD7B-4867-B4BB-D3E563476481}" destId="{E545498E-0B70-4BFF-BC1F-F24C5CCB262C}" srcOrd="0" destOrd="0" presId="urn:microsoft.com/office/officeart/2018/2/layout/IconCircleList"/>
    <dgm:cxn modelId="{4C47966B-ED06-402A-9DE8-31EF1215E0E4}" type="presOf" srcId="{98AA859E-DB5D-4A2D-93C0-6E7048213F0B}" destId="{B6B83C9E-4EF6-4E2E-8385-5C38A86AA56E}" srcOrd="0" destOrd="0" presId="urn:microsoft.com/office/officeart/2018/2/layout/IconCircleList"/>
    <dgm:cxn modelId="{C00C5B89-EF4D-4F81-9CEA-063B8A8884DD}" srcId="{98AA859E-DB5D-4A2D-93C0-6E7048213F0B}" destId="{B10C0073-26EB-447E-97CA-06BD1C28C739}" srcOrd="2" destOrd="0" parTransId="{8CF05E74-7E85-45F8-A592-6975BF319F24}" sibTransId="{0A20D8F2-E594-4F73-80F7-0DA94F9EADF5}"/>
    <dgm:cxn modelId="{235419C4-5152-425F-868A-03728E43143C}" type="presOf" srcId="{B10C0073-26EB-447E-97CA-06BD1C28C739}" destId="{EAC071FF-8FDF-4805-B6CD-1B1860AFC269}" srcOrd="0" destOrd="0" presId="urn:microsoft.com/office/officeart/2018/2/layout/IconCircleList"/>
    <dgm:cxn modelId="{C290ECCA-4C89-41A8-B532-2FE4D08A6AC8}" srcId="{98AA859E-DB5D-4A2D-93C0-6E7048213F0B}" destId="{E47035B8-1EDD-4B6A-9D99-BF45FAC1C310}" srcOrd="1" destOrd="0" parTransId="{5F6F9E96-155B-4A6F-BE09-468E3E859B62}" sibTransId="{7F9030DF-FFA4-4776-9709-A3EADCFB8D41}"/>
    <dgm:cxn modelId="{554D6ADE-411A-4A22-A83C-B93A8CDEFA6C}" type="presOf" srcId="{E47035B8-1EDD-4B6A-9D99-BF45FAC1C310}" destId="{E985E413-0541-4F58-9B5D-53D6B75D6065}" srcOrd="0" destOrd="0" presId="urn:microsoft.com/office/officeart/2018/2/layout/IconCircleList"/>
    <dgm:cxn modelId="{73D40BE2-F4A9-45C7-9263-23C1DD507CF2}" type="presOf" srcId="{7B6D7E24-C84A-4D81-A17D-7B47B0CF7458}" destId="{1F5C0EDF-7685-4FE0-8C76-674D3BB8154E}" srcOrd="0" destOrd="0" presId="urn:microsoft.com/office/officeart/2018/2/layout/IconCircleList"/>
    <dgm:cxn modelId="{271998F7-DE9F-4FF7-8418-070BD2012B39}" type="presOf" srcId="{7F9030DF-FFA4-4776-9709-A3EADCFB8D41}" destId="{AAE6E792-8F16-4B50-9E78-B07847A013EE}" srcOrd="0" destOrd="0" presId="urn:microsoft.com/office/officeart/2018/2/layout/IconCircleList"/>
    <dgm:cxn modelId="{A747920F-162F-4560-B793-AEF258D60CA9}" type="presParOf" srcId="{B6B83C9E-4EF6-4E2E-8385-5C38A86AA56E}" destId="{CC632F40-1284-4E4B-B6FB-12CCBFC05A72}" srcOrd="0" destOrd="0" presId="urn:microsoft.com/office/officeart/2018/2/layout/IconCircleList"/>
    <dgm:cxn modelId="{0BA03354-E30E-4E3D-BF26-E73FD9B306CB}" type="presParOf" srcId="{CC632F40-1284-4E4B-B6FB-12CCBFC05A72}" destId="{78D7F54F-B276-4F91-AA76-45FD49C7EFE4}" srcOrd="0" destOrd="0" presId="urn:microsoft.com/office/officeart/2018/2/layout/IconCircleList"/>
    <dgm:cxn modelId="{54EC791B-8B07-42C0-8737-7405A0C5BA5D}" type="presParOf" srcId="{78D7F54F-B276-4F91-AA76-45FD49C7EFE4}" destId="{7C9869AF-3736-405C-AE2B-55697A66E0CE}" srcOrd="0" destOrd="0" presId="urn:microsoft.com/office/officeart/2018/2/layout/IconCircleList"/>
    <dgm:cxn modelId="{5C35EE22-92C1-4399-951E-4CAAD7DF2BD9}" type="presParOf" srcId="{78D7F54F-B276-4F91-AA76-45FD49C7EFE4}" destId="{F06151FE-8DB1-44D4-AC02-4D566520B9FC}" srcOrd="1" destOrd="0" presId="urn:microsoft.com/office/officeart/2018/2/layout/IconCircleList"/>
    <dgm:cxn modelId="{49CA068E-C941-42EF-B3AE-3C6EBA423FB6}" type="presParOf" srcId="{78D7F54F-B276-4F91-AA76-45FD49C7EFE4}" destId="{5CE89C8C-499E-4700-9560-E8BE9E39AF7A}" srcOrd="2" destOrd="0" presId="urn:microsoft.com/office/officeart/2018/2/layout/IconCircleList"/>
    <dgm:cxn modelId="{0254F0EA-B422-4529-AA1F-F87C30FD7D9E}" type="presParOf" srcId="{78D7F54F-B276-4F91-AA76-45FD49C7EFE4}" destId="{1F5C0EDF-7685-4FE0-8C76-674D3BB8154E}" srcOrd="3" destOrd="0" presId="urn:microsoft.com/office/officeart/2018/2/layout/IconCircleList"/>
    <dgm:cxn modelId="{38CC772F-EE86-4D84-AA15-D7A18F103F0B}" type="presParOf" srcId="{CC632F40-1284-4E4B-B6FB-12CCBFC05A72}" destId="{E545498E-0B70-4BFF-BC1F-F24C5CCB262C}" srcOrd="1" destOrd="0" presId="urn:microsoft.com/office/officeart/2018/2/layout/IconCircleList"/>
    <dgm:cxn modelId="{BC820D8B-B903-46CC-B44A-A8466E7CE530}" type="presParOf" srcId="{CC632F40-1284-4E4B-B6FB-12CCBFC05A72}" destId="{F8082572-A61B-4C8B-A875-46A5BCD7FF65}" srcOrd="2" destOrd="0" presId="urn:microsoft.com/office/officeart/2018/2/layout/IconCircleList"/>
    <dgm:cxn modelId="{40CDD699-F026-4AF8-86EF-4CDD9E7F93B5}" type="presParOf" srcId="{F8082572-A61B-4C8B-A875-46A5BCD7FF65}" destId="{8C8DF77B-5002-4169-BB76-8A5FCA0A708F}" srcOrd="0" destOrd="0" presId="urn:microsoft.com/office/officeart/2018/2/layout/IconCircleList"/>
    <dgm:cxn modelId="{5CA699A1-3FC0-41AD-931A-0996F320C795}" type="presParOf" srcId="{F8082572-A61B-4C8B-A875-46A5BCD7FF65}" destId="{C9352454-19BB-4CA4-B82A-EB3E40E994A0}" srcOrd="1" destOrd="0" presId="urn:microsoft.com/office/officeart/2018/2/layout/IconCircleList"/>
    <dgm:cxn modelId="{59CAE32D-3525-4633-AE89-F8C8749B2D45}" type="presParOf" srcId="{F8082572-A61B-4C8B-A875-46A5BCD7FF65}" destId="{13219698-377D-4B17-917B-C3574F9F1659}" srcOrd="2" destOrd="0" presId="urn:microsoft.com/office/officeart/2018/2/layout/IconCircleList"/>
    <dgm:cxn modelId="{2961EF8C-6803-4DD5-9ABE-628A04D80008}" type="presParOf" srcId="{F8082572-A61B-4C8B-A875-46A5BCD7FF65}" destId="{E985E413-0541-4F58-9B5D-53D6B75D6065}" srcOrd="3" destOrd="0" presId="urn:microsoft.com/office/officeart/2018/2/layout/IconCircleList"/>
    <dgm:cxn modelId="{DE9F10FF-E131-4C58-94BB-79C5FE7F7D48}" type="presParOf" srcId="{CC632F40-1284-4E4B-B6FB-12CCBFC05A72}" destId="{AAE6E792-8F16-4B50-9E78-B07847A013EE}" srcOrd="3" destOrd="0" presId="urn:microsoft.com/office/officeart/2018/2/layout/IconCircleList"/>
    <dgm:cxn modelId="{62E31D6B-86DC-4151-A72D-5D19574BBDDA}" type="presParOf" srcId="{CC632F40-1284-4E4B-B6FB-12CCBFC05A72}" destId="{E50EB690-F51A-4A70-895A-5F659F6EEDDA}" srcOrd="4" destOrd="0" presId="urn:microsoft.com/office/officeart/2018/2/layout/IconCircleList"/>
    <dgm:cxn modelId="{F8779CEF-B504-4473-8EE6-F37679AF6D24}" type="presParOf" srcId="{E50EB690-F51A-4A70-895A-5F659F6EEDDA}" destId="{69BBE496-6864-4835-84D3-5CFBBA2C6D56}" srcOrd="0" destOrd="0" presId="urn:microsoft.com/office/officeart/2018/2/layout/IconCircleList"/>
    <dgm:cxn modelId="{03147093-6F55-4E56-B972-870872552CB8}" type="presParOf" srcId="{E50EB690-F51A-4A70-895A-5F659F6EEDDA}" destId="{9B4405DF-C2E6-4E63-A29F-121EFA925738}" srcOrd="1" destOrd="0" presId="urn:microsoft.com/office/officeart/2018/2/layout/IconCircleList"/>
    <dgm:cxn modelId="{5366CC5A-5633-46DE-9A7F-BBB93DBFF511}" type="presParOf" srcId="{E50EB690-F51A-4A70-895A-5F659F6EEDDA}" destId="{E74F6614-EE4E-4843-9A57-425FBCD0DFCD}" srcOrd="2" destOrd="0" presId="urn:microsoft.com/office/officeart/2018/2/layout/IconCircleList"/>
    <dgm:cxn modelId="{97F5ACE4-BC23-4D97-9BD1-C7A62EAC325D}" type="presParOf" srcId="{E50EB690-F51A-4A70-895A-5F659F6EEDDA}" destId="{EAC071FF-8FDF-4805-B6CD-1B1860AFC269}" srcOrd="3" destOrd="0" presId="urn:microsoft.com/office/officeart/2018/2/layout/IconCircle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B8D6B-C265-5F46-B8CC-56F192D58C7E}">
      <dsp:nvSpPr>
        <dsp:cNvPr id="0" name=""/>
        <dsp:cNvSpPr/>
      </dsp:nvSpPr>
      <dsp:spPr>
        <a:xfrm>
          <a:off x="0" y="0"/>
          <a:ext cx="9601196"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9DF6D9-1BD5-CC4C-B50B-59C2DD365015}">
      <dsp:nvSpPr>
        <dsp:cNvPr id="0" name=""/>
        <dsp:cNvSpPr/>
      </dsp:nvSpPr>
      <dsp:spPr>
        <a:xfrm>
          <a:off x="0" y="0"/>
          <a:ext cx="1920239" cy="2689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u="sng" kern="1200" dirty="0"/>
            <a:t>Challenges</a:t>
          </a:r>
          <a:endParaRPr lang="en-US" sz="2800" kern="1200" dirty="0"/>
        </a:p>
      </dsp:txBody>
      <dsp:txXfrm>
        <a:off x="0" y="0"/>
        <a:ext cx="1920239" cy="2689413"/>
      </dsp:txXfrm>
    </dsp:sp>
    <dsp:sp modelId="{58F09121-780B-6F41-8F8E-7B062228EF9C}">
      <dsp:nvSpPr>
        <dsp:cNvPr id="0" name=""/>
        <dsp:cNvSpPr/>
      </dsp:nvSpPr>
      <dsp:spPr>
        <a:xfrm>
          <a:off x="2064257" y="31615"/>
          <a:ext cx="7536938" cy="63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 Large amounts of patient data</a:t>
          </a:r>
        </a:p>
      </dsp:txBody>
      <dsp:txXfrm>
        <a:off x="2064257" y="31615"/>
        <a:ext cx="7536938" cy="632300"/>
      </dsp:txXfrm>
    </dsp:sp>
    <dsp:sp modelId="{C0925E47-2BB7-154C-BF25-F47345E29F94}">
      <dsp:nvSpPr>
        <dsp:cNvPr id="0" name=""/>
        <dsp:cNvSpPr/>
      </dsp:nvSpPr>
      <dsp:spPr>
        <a:xfrm>
          <a:off x="1920239" y="663916"/>
          <a:ext cx="7680956"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063F1-4E46-4140-A97A-FCB8EAD95D14}">
      <dsp:nvSpPr>
        <dsp:cNvPr id="0" name=""/>
        <dsp:cNvSpPr/>
      </dsp:nvSpPr>
      <dsp:spPr>
        <a:xfrm>
          <a:off x="2064257" y="695531"/>
          <a:ext cx="7536938" cy="63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 Manual chart review</a:t>
          </a:r>
        </a:p>
      </dsp:txBody>
      <dsp:txXfrm>
        <a:off x="2064257" y="695531"/>
        <a:ext cx="7536938" cy="632300"/>
      </dsp:txXfrm>
    </dsp:sp>
    <dsp:sp modelId="{12EAA37C-202F-C048-B6CC-515814DCC4DB}">
      <dsp:nvSpPr>
        <dsp:cNvPr id="0" name=""/>
        <dsp:cNvSpPr/>
      </dsp:nvSpPr>
      <dsp:spPr>
        <a:xfrm>
          <a:off x="1920239" y="1327832"/>
          <a:ext cx="7680956"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6DE59F-5198-9441-A040-FF2C0BA58447}">
      <dsp:nvSpPr>
        <dsp:cNvPr id="0" name=""/>
        <dsp:cNvSpPr/>
      </dsp:nvSpPr>
      <dsp:spPr>
        <a:xfrm>
          <a:off x="2064257" y="1359447"/>
          <a:ext cx="7536938" cy="63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 High-risk patients</a:t>
          </a:r>
        </a:p>
      </dsp:txBody>
      <dsp:txXfrm>
        <a:off x="2064257" y="1359447"/>
        <a:ext cx="7536938" cy="632300"/>
      </dsp:txXfrm>
    </dsp:sp>
    <dsp:sp modelId="{41026EC1-C985-FC43-8439-E6B2C4F43899}">
      <dsp:nvSpPr>
        <dsp:cNvPr id="0" name=""/>
        <dsp:cNvSpPr/>
      </dsp:nvSpPr>
      <dsp:spPr>
        <a:xfrm>
          <a:off x="1920239" y="1991748"/>
          <a:ext cx="7680956"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32842F-A53A-0F43-A2D5-E6B43BEF33EE}">
      <dsp:nvSpPr>
        <dsp:cNvPr id="0" name=""/>
        <dsp:cNvSpPr/>
      </dsp:nvSpPr>
      <dsp:spPr>
        <a:xfrm>
          <a:off x="2064257" y="2023363"/>
          <a:ext cx="7536938" cy="63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 Documentation &amp; Payment Integrity</a:t>
          </a:r>
        </a:p>
      </dsp:txBody>
      <dsp:txXfrm>
        <a:off x="2064257" y="2023363"/>
        <a:ext cx="7536938" cy="632300"/>
      </dsp:txXfrm>
    </dsp:sp>
    <dsp:sp modelId="{8DA1AFF1-0052-C44E-83D6-31E144E0639F}">
      <dsp:nvSpPr>
        <dsp:cNvPr id="0" name=""/>
        <dsp:cNvSpPr/>
      </dsp:nvSpPr>
      <dsp:spPr>
        <a:xfrm>
          <a:off x="1920239" y="2655664"/>
          <a:ext cx="7680956"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869AF-3736-405C-AE2B-55697A66E0CE}">
      <dsp:nvSpPr>
        <dsp:cNvPr id="0" name=""/>
        <dsp:cNvSpPr/>
      </dsp:nvSpPr>
      <dsp:spPr>
        <a:xfrm>
          <a:off x="187642" y="1066328"/>
          <a:ext cx="800131" cy="8001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6151FE-8DB1-44D4-AC02-4D566520B9FC}">
      <dsp:nvSpPr>
        <dsp:cNvPr id="0" name=""/>
        <dsp:cNvSpPr/>
      </dsp:nvSpPr>
      <dsp:spPr>
        <a:xfrm>
          <a:off x="371165" y="1207472"/>
          <a:ext cx="464076" cy="4640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C0EDF-7685-4FE0-8C76-674D3BB8154E}">
      <dsp:nvSpPr>
        <dsp:cNvPr id="0" name=""/>
        <dsp:cNvSpPr/>
      </dsp:nvSpPr>
      <dsp:spPr>
        <a:xfrm>
          <a:off x="1157142" y="1066328"/>
          <a:ext cx="1886024" cy="800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Built a Clinical Intelligence Dashboard </a:t>
          </a:r>
        </a:p>
      </dsp:txBody>
      <dsp:txXfrm>
        <a:off x="1157142" y="1066328"/>
        <a:ext cx="1886024" cy="800131"/>
      </dsp:txXfrm>
    </dsp:sp>
    <dsp:sp modelId="{8C8DF77B-5002-4169-BB76-8A5FCA0A708F}">
      <dsp:nvSpPr>
        <dsp:cNvPr id="0" name=""/>
        <dsp:cNvSpPr/>
      </dsp:nvSpPr>
      <dsp:spPr>
        <a:xfrm>
          <a:off x="3292706" y="1066328"/>
          <a:ext cx="800131" cy="8001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352454-19BB-4CA4-B82A-EB3E40E994A0}">
      <dsp:nvSpPr>
        <dsp:cNvPr id="0" name=""/>
        <dsp:cNvSpPr/>
      </dsp:nvSpPr>
      <dsp:spPr>
        <a:xfrm>
          <a:off x="3461281" y="1207470"/>
          <a:ext cx="462976" cy="4801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85E413-0541-4F58-9B5D-53D6B75D6065}">
      <dsp:nvSpPr>
        <dsp:cNvPr id="0" name=""/>
        <dsp:cNvSpPr/>
      </dsp:nvSpPr>
      <dsp:spPr>
        <a:xfrm>
          <a:off x="4345303" y="1066328"/>
          <a:ext cx="1886024" cy="800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Demonstrated Clinical decision Support </a:t>
          </a:r>
        </a:p>
      </dsp:txBody>
      <dsp:txXfrm>
        <a:off x="4345303" y="1066328"/>
        <a:ext cx="1886024" cy="800131"/>
      </dsp:txXfrm>
    </dsp:sp>
    <dsp:sp modelId="{69BBE496-6864-4835-84D3-5CFBBA2C6D56}">
      <dsp:nvSpPr>
        <dsp:cNvPr id="0" name=""/>
        <dsp:cNvSpPr/>
      </dsp:nvSpPr>
      <dsp:spPr>
        <a:xfrm>
          <a:off x="6441834" y="1066328"/>
          <a:ext cx="800131" cy="8001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4405DF-C2E6-4E63-A29F-121EFA925738}">
      <dsp:nvSpPr>
        <dsp:cNvPr id="0" name=""/>
        <dsp:cNvSpPr/>
      </dsp:nvSpPr>
      <dsp:spPr>
        <a:xfrm>
          <a:off x="6673300" y="1234352"/>
          <a:ext cx="464076" cy="4640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C071FF-8FDF-4805-B6CD-1B1860AFC269}">
      <dsp:nvSpPr>
        <dsp:cNvPr id="0" name=""/>
        <dsp:cNvSpPr/>
      </dsp:nvSpPr>
      <dsp:spPr>
        <a:xfrm>
          <a:off x="7575466" y="1066328"/>
          <a:ext cx="1886024" cy="800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Supported Treatment, Payment &amp; Operations  </a:t>
          </a:r>
        </a:p>
      </dsp:txBody>
      <dsp:txXfrm>
        <a:off x="7575466" y="1066328"/>
        <a:ext cx="1886024" cy="80013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49:53.209"/>
    </inkml:context>
    <inkml:brush xml:id="br0">
      <inkml:brushProperty name="width" value="0.035" units="cm"/>
      <inkml:brushProperty name="height" value="0.035" units="cm"/>
      <inkml:brushProperty name="color" value="#E71224"/>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49:53.909"/>
    </inkml:context>
    <inkml:brush xml:id="br0">
      <inkml:brushProperty name="width" value="0.035" units="cm"/>
      <inkml:brushProperty name="height" value="0.035" units="cm"/>
      <inkml:brushProperty name="color" value="#E71224"/>
    </inkml:brush>
  </inkml:definitions>
  <inkml:trace contextRef="#ctx0" brushRef="#br0">1 0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50:02.993"/>
    </inkml:context>
    <inkml:brush xml:id="br0">
      <inkml:brushProperty name="width" value="0.035" units="cm"/>
      <inkml:brushProperty name="height" value="0.035" units="cm"/>
      <inkml:brushProperty name="color" value="#E71224"/>
    </inkml:brush>
  </inkml:definitions>
  <inkml:trace contextRef="#ctx0" brushRef="#br0">1 0 24575,'3'0'0,"-1"0"0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50:37.492"/>
    </inkml:context>
    <inkml:brush xml:id="br0">
      <inkml:brushProperty name="width" value="0.035" units="cm"/>
      <inkml:brushProperty name="height" value="0.035" units="cm"/>
      <inkml:brushProperty name="color" value="#E71224"/>
    </inkml:brush>
  </inkml:definitions>
  <inkml:trace contextRef="#ctx0" brushRef="#br0">1 0 24575,'0'3'0,"0"-1"0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55:47.363"/>
    </inkml:context>
    <inkml:brush xml:id="br0">
      <inkml:brushProperty name="width" value="0.035" units="cm"/>
      <inkml:brushProperty name="height" value="0.035" units="cm"/>
      <inkml:brushProperty name="color" value="#E71224"/>
    </inkml:brush>
  </inkml:definitions>
  <inkml:trace contextRef="#ctx0" brushRef="#br0">6 1 24575,'-3'0'0,"1"0"0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56:06.012"/>
    </inkml:context>
    <inkml:brush xml:id="br0">
      <inkml:brushProperty name="width" value="0.035" units="cm"/>
      <inkml:brushProperty name="height" value="0.035" units="cm"/>
      <inkml:brushProperty name="color" value="#E71224"/>
    </inkml:brush>
  </inkml:definitions>
  <inkml:trace contextRef="#ctx0" brushRef="#br0">0 0 24575,'0'3'0,"0"-1"0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56:07.746"/>
    </inkml:context>
    <inkml:brush xml:id="br0">
      <inkml:brushProperty name="width" value="0.035" units="cm"/>
      <inkml:brushProperty name="height" value="0.035" units="cm"/>
      <inkml:brushProperty name="color" value="#E71224"/>
    </inkml:brush>
  </inkml:definitions>
  <inkml:trace contextRef="#ctx0" brushRef="#br0">6 1 24575,'-3'0'0,"1"0"0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4:56:08.829"/>
    </inkml:context>
    <inkml:brush xml:id="br0">
      <inkml:brushProperty name="width" value="0.035" units="cm"/>
      <inkml:brushProperty name="height" value="0.035" units="cm"/>
      <inkml:brushProperty name="color" value="#E71224"/>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B7D703-5280-D94E-B006-F150200646F7}" type="datetimeFigureOut">
              <a:rPr lang="en-US" smtClean="0"/>
              <a:t>7/22/26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C3AC5-6E49-E942-A812-87631C29305C}" type="slidenum">
              <a:rPr lang="en-US" smtClean="0"/>
              <a:t>‹#›</a:t>
            </a:fld>
            <a:endParaRPr lang="en-US"/>
          </a:p>
        </p:txBody>
      </p:sp>
    </p:spTree>
    <p:extLst>
      <p:ext uri="{BB962C8B-B14F-4D97-AF65-F5344CB8AC3E}">
        <p14:creationId xmlns:p14="http://schemas.microsoft.com/office/powerpoint/2010/main" val="1106512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1</a:t>
            </a:fld>
            <a:endParaRPr lang="en-US"/>
          </a:p>
        </p:txBody>
      </p:sp>
    </p:spTree>
    <p:extLst>
      <p:ext uri="{BB962C8B-B14F-4D97-AF65-F5344CB8AC3E}">
        <p14:creationId xmlns:p14="http://schemas.microsoft.com/office/powerpoint/2010/main" val="1883772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2</a:t>
            </a:fld>
            <a:endParaRPr lang="en-US"/>
          </a:p>
        </p:txBody>
      </p:sp>
    </p:spTree>
    <p:extLst>
      <p:ext uri="{BB962C8B-B14F-4D97-AF65-F5344CB8AC3E}">
        <p14:creationId xmlns:p14="http://schemas.microsoft.com/office/powerpoint/2010/main" val="156812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3</a:t>
            </a:fld>
            <a:endParaRPr lang="en-US"/>
          </a:p>
        </p:txBody>
      </p:sp>
    </p:spTree>
    <p:extLst>
      <p:ext uri="{BB962C8B-B14F-4D97-AF65-F5344CB8AC3E}">
        <p14:creationId xmlns:p14="http://schemas.microsoft.com/office/powerpoint/2010/main" val="3900067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4</a:t>
            </a:fld>
            <a:endParaRPr lang="en-US"/>
          </a:p>
        </p:txBody>
      </p:sp>
    </p:spTree>
    <p:extLst>
      <p:ext uri="{BB962C8B-B14F-4D97-AF65-F5344CB8AC3E}">
        <p14:creationId xmlns:p14="http://schemas.microsoft.com/office/powerpoint/2010/main" val="1040313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5</a:t>
            </a:fld>
            <a:endParaRPr lang="en-US"/>
          </a:p>
        </p:txBody>
      </p:sp>
    </p:spTree>
    <p:extLst>
      <p:ext uri="{BB962C8B-B14F-4D97-AF65-F5344CB8AC3E}">
        <p14:creationId xmlns:p14="http://schemas.microsoft.com/office/powerpoint/2010/main" val="2876359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6</a:t>
            </a:fld>
            <a:endParaRPr lang="en-US"/>
          </a:p>
        </p:txBody>
      </p:sp>
    </p:spTree>
    <p:extLst>
      <p:ext uri="{BB962C8B-B14F-4D97-AF65-F5344CB8AC3E}">
        <p14:creationId xmlns:p14="http://schemas.microsoft.com/office/powerpoint/2010/main" val="2457695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7</a:t>
            </a:fld>
            <a:endParaRPr lang="en-US"/>
          </a:p>
        </p:txBody>
      </p:sp>
    </p:spTree>
    <p:extLst>
      <p:ext uri="{BB962C8B-B14F-4D97-AF65-F5344CB8AC3E}">
        <p14:creationId xmlns:p14="http://schemas.microsoft.com/office/powerpoint/2010/main" val="66518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8</a:t>
            </a:fld>
            <a:endParaRPr lang="en-US"/>
          </a:p>
        </p:txBody>
      </p:sp>
    </p:spTree>
    <p:extLst>
      <p:ext uri="{BB962C8B-B14F-4D97-AF65-F5344CB8AC3E}">
        <p14:creationId xmlns:p14="http://schemas.microsoft.com/office/powerpoint/2010/main" val="3884270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9</a:t>
            </a:fld>
            <a:endParaRPr lang="en-US"/>
          </a:p>
        </p:txBody>
      </p:sp>
    </p:spTree>
    <p:extLst>
      <p:ext uri="{BB962C8B-B14F-4D97-AF65-F5344CB8AC3E}">
        <p14:creationId xmlns:p14="http://schemas.microsoft.com/office/powerpoint/2010/main" val="2422283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Slide Number Placeholder 3"/>
          <p:cNvSpPr>
            <a:spLocks noGrp="1"/>
          </p:cNvSpPr>
          <p:nvPr>
            <p:ph type="sldNum" sz="quarter" idx="5"/>
          </p:nvPr>
        </p:nvSpPr>
        <p:spPr/>
        <p:txBody>
          <a:bodyPr/>
          <a:lstStyle/>
          <a:p>
            <a:fld id="{605C3AC5-6E49-E942-A812-87631C29305C}" type="slidenum">
              <a:rPr lang="en-US" smtClean="0"/>
              <a:t>10</a:t>
            </a:fld>
            <a:endParaRPr lang="en-US"/>
          </a:p>
        </p:txBody>
      </p:sp>
    </p:spTree>
    <p:extLst>
      <p:ext uri="{BB962C8B-B14F-4D97-AF65-F5344CB8AC3E}">
        <p14:creationId xmlns:p14="http://schemas.microsoft.com/office/powerpoint/2010/main" val="34684256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7/22/26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7" Type="http://schemas.openxmlformats.org/officeDocument/2006/relationships/customXml" Target="../ink/ink2.xml"/><Relationship Id="rId12" Type="http://schemas.openxmlformats.org/officeDocument/2006/relationships/customXml" Target="../ink/ink5.xml"/><Relationship Id="rId17" Type="http://schemas.openxmlformats.org/officeDocument/2006/relationships/image" Target="../media/image8.jpeg"/><Relationship Id="rId2" Type="http://schemas.openxmlformats.org/officeDocument/2006/relationships/notesSlide" Target="../notesSlides/notesSlide3.xml"/><Relationship Id="rId16" Type="http://schemas.openxmlformats.org/officeDocument/2006/relationships/image" Target="../media/image7.png"/><Relationship Id="rId20" Type="http://schemas.openxmlformats.org/officeDocument/2006/relationships/image" Target="../media/image12.jpeg"/><Relationship Id="rId1" Type="http://schemas.openxmlformats.org/officeDocument/2006/relationships/slideLayout" Target="../slideLayouts/slideLayout5.xml"/><Relationship Id="rId6" Type="http://schemas.openxmlformats.org/officeDocument/2006/relationships/image" Target="../media/image70.png"/><Relationship Id="rId11" Type="http://schemas.openxmlformats.org/officeDocument/2006/relationships/image" Target="../media/image9.png"/><Relationship Id="rId15" Type="http://schemas.openxmlformats.org/officeDocument/2006/relationships/customXml" Target="../ink/ink8.xml"/><Relationship Id="rId10" Type="http://schemas.openxmlformats.org/officeDocument/2006/relationships/customXml" Target="../ink/ink4.xml"/><Relationship Id="rId19" Type="http://schemas.openxmlformats.org/officeDocument/2006/relationships/image" Target="../media/image11.png"/><Relationship Id="rId9" Type="http://schemas.openxmlformats.org/officeDocument/2006/relationships/image" Target="../media/image80.png"/><Relationship Id="rId14" Type="http://schemas.openxmlformats.org/officeDocument/2006/relationships/customXml" Target="../ink/ink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jpeg"/><Relationship Id="rId7"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1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27.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14.png"/><Relationship Id="rId3" Type="http://schemas.openxmlformats.org/officeDocument/2006/relationships/image" Target="../media/image2.jpeg"/><Relationship Id="rId7" Type="http://schemas.openxmlformats.org/officeDocument/2006/relationships/diagramLayout" Target="../diagrams/layout2.xml"/><Relationship Id="rId12"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image" Target="../media/image36.jpeg"/><Relationship Id="rId5" Type="http://schemas.openxmlformats.org/officeDocument/2006/relationships/image" Target="../media/image29.png"/><Relationship Id="rId10" Type="http://schemas.microsoft.com/office/2007/relationships/diagramDrawing" Target="../diagrams/drawing2.xml"/><Relationship Id="rId4" Type="http://schemas.openxmlformats.org/officeDocument/2006/relationships/image" Target="../media/image28.jpeg"/><Relationship Id="rId9" Type="http://schemas.openxmlformats.org/officeDocument/2006/relationships/diagramColors" Target="../diagrams/colors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31F2-0E3F-0B17-F60A-D1C565ECED6F}"/>
              </a:ext>
            </a:extLst>
          </p:cNvPr>
          <p:cNvSpPr>
            <a:spLocks noGrp="1"/>
          </p:cNvSpPr>
          <p:nvPr>
            <p:ph type="ctrTitle"/>
          </p:nvPr>
        </p:nvSpPr>
        <p:spPr>
          <a:xfrm>
            <a:off x="2323652" y="1549102"/>
            <a:ext cx="7584141" cy="1785770"/>
          </a:xfrm>
        </p:spPr>
        <p:txBody>
          <a:bodyPr/>
          <a:lstStyle/>
          <a:p>
            <a:r>
              <a:rPr lang="en-US" dirty="0"/>
              <a:t>Cotiviti Clinical Intelligence Platform</a:t>
            </a:r>
          </a:p>
        </p:txBody>
      </p:sp>
      <p:sp>
        <p:nvSpPr>
          <p:cNvPr id="3" name="Subtitle 2">
            <a:extLst>
              <a:ext uri="{FF2B5EF4-FFF2-40B4-BE49-F238E27FC236}">
                <a16:creationId xmlns:a16="http://schemas.microsoft.com/office/drawing/2014/main" id="{267AFC3D-2B2B-CDD5-C8C4-F0177DAC5562}"/>
              </a:ext>
            </a:extLst>
          </p:cNvPr>
          <p:cNvSpPr>
            <a:spLocks noGrp="1"/>
          </p:cNvSpPr>
          <p:nvPr>
            <p:ph type="subTitle" idx="1"/>
          </p:nvPr>
        </p:nvSpPr>
        <p:spPr>
          <a:xfrm>
            <a:off x="2323652" y="3523128"/>
            <a:ext cx="7584141" cy="1785769"/>
          </a:xfrm>
        </p:spPr>
        <p:txBody>
          <a:bodyPr>
            <a:normAutofit fontScale="32500" lnSpcReduction="20000"/>
          </a:bodyPr>
          <a:lstStyle/>
          <a:p>
            <a:r>
              <a:rPr lang="en-US" sz="6000" u="sng" dirty="0"/>
              <a:t>Clinical Decision Making and Pattern Recognition in Health Care</a:t>
            </a:r>
          </a:p>
          <a:p>
            <a:endParaRPr lang="en-US" dirty="0"/>
          </a:p>
          <a:p>
            <a:endParaRPr lang="en-US" sz="3400" dirty="0"/>
          </a:p>
          <a:p>
            <a:pPr lvl="8"/>
            <a:r>
              <a:rPr lang="en-US" sz="4300" dirty="0">
                <a:solidFill>
                  <a:schemeClr val="tx1"/>
                </a:solidFill>
              </a:rPr>
              <a:t>Misgana Okbagaber</a:t>
            </a:r>
          </a:p>
          <a:p>
            <a:pPr lvl="7"/>
            <a:endParaRPr lang="en-US" sz="4300" dirty="0">
              <a:solidFill>
                <a:schemeClr val="tx1"/>
              </a:solidFill>
            </a:endParaRPr>
          </a:p>
          <a:p>
            <a:pPr lvl="8"/>
            <a:r>
              <a:rPr lang="en-US" sz="4300" dirty="0">
                <a:solidFill>
                  <a:schemeClr val="tx1"/>
                </a:solidFill>
              </a:rPr>
              <a:t>University of Washington</a:t>
            </a:r>
          </a:p>
          <a:p>
            <a:endParaRPr lang="en-US" dirty="0"/>
          </a:p>
        </p:txBody>
      </p:sp>
    </p:spTree>
    <p:extLst>
      <p:ext uri="{BB962C8B-B14F-4D97-AF65-F5344CB8AC3E}">
        <p14:creationId xmlns:p14="http://schemas.microsoft.com/office/powerpoint/2010/main" val="66065460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51A7-D15B-57CF-5A23-454AD28D7530}"/>
              </a:ext>
            </a:extLst>
          </p:cNvPr>
          <p:cNvSpPr>
            <a:spLocks noGrp="1"/>
          </p:cNvSpPr>
          <p:nvPr>
            <p:ph type="title"/>
          </p:nvPr>
        </p:nvSpPr>
        <p:spPr>
          <a:xfrm>
            <a:off x="1295402" y="982133"/>
            <a:ext cx="9601196" cy="1190912"/>
          </a:xfrm>
        </p:spPr>
        <p:txBody>
          <a:bodyPr>
            <a:normAutofit/>
          </a:bodyPr>
          <a:lstStyle/>
          <a:p>
            <a:r>
              <a:rPr lang="en-US" sz="4800" b="1" u="sng" dirty="0"/>
              <a:t>Problem Statement </a:t>
            </a:r>
          </a:p>
        </p:txBody>
      </p:sp>
      <p:graphicFrame>
        <p:nvGraphicFramePr>
          <p:cNvPr id="9" name="Content Placeholder 2">
            <a:extLst>
              <a:ext uri="{FF2B5EF4-FFF2-40B4-BE49-F238E27FC236}">
                <a16:creationId xmlns:a16="http://schemas.microsoft.com/office/drawing/2014/main" id="{42E1B74D-81B7-E5EE-F9F0-6290FBE88B21}"/>
              </a:ext>
            </a:extLst>
          </p:cNvPr>
          <p:cNvGraphicFramePr>
            <a:graphicFrameLocks noGrp="1"/>
          </p:cNvGraphicFramePr>
          <p:nvPr>
            <p:ph idx="1"/>
            <p:extLst>
              <p:ext uri="{D42A27DB-BD31-4B8C-83A1-F6EECF244321}">
                <p14:modId xmlns:p14="http://schemas.microsoft.com/office/powerpoint/2010/main" val="3252254326"/>
              </p:ext>
            </p:extLst>
          </p:nvPr>
        </p:nvGraphicFramePr>
        <p:xfrm>
          <a:off x="1046960" y="2441985"/>
          <a:ext cx="9601196" cy="2689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08C3919-0670-9D43-5B67-3DCF441A093E}"/>
              </a:ext>
            </a:extLst>
          </p:cNvPr>
          <p:cNvSpPr txBox="1"/>
          <p:nvPr/>
        </p:nvSpPr>
        <p:spPr>
          <a:xfrm>
            <a:off x="907475" y="5131398"/>
            <a:ext cx="9372598" cy="1384995"/>
          </a:xfrm>
          <a:prstGeom prst="rect">
            <a:avLst/>
          </a:prstGeom>
          <a:noFill/>
        </p:spPr>
        <p:txBody>
          <a:bodyPr wrap="square">
            <a:spAutoFit/>
          </a:bodyPr>
          <a:lstStyle/>
          <a:p>
            <a:r>
              <a:rPr lang="en-US" sz="2400" b="1" u="sng" dirty="0"/>
              <a:t>Goal</a:t>
            </a:r>
          </a:p>
          <a:p>
            <a:r>
              <a:rPr lang="en-US" sz="2400" dirty="0"/>
              <a:t>Support </a:t>
            </a:r>
            <a:r>
              <a:rPr lang="en-US" sz="2400" b="1" dirty="0"/>
              <a:t>Treatment • Payment • Operations</a:t>
            </a:r>
          </a:p>
          <a:p>
            <a:endParaRPr lang="en-US" dirty="0"/>
          </a:p>
          <a:p>
            <a:pPr>
              <a:buNone/>
            </a:pPr>
            <a:endParaRPr lang="en-US" dirty="0"/>
          </a:p>
        </p:txBody>
      </p:sp>
    </p:spTree>
    <p:extLst>
      <p:ext uri="{BB962C8B-B14F-4D97-AF65-F5344CB8AC3E}">
        <p14:creationId xmlns:p14="http://schemas.microsoft.com/office/powerpoint/2010/main" val="354467226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1B430-8B8F-CE86-E0B4-A0F8281D092B}"/>
              </a:ext>
            </a:extLst>
          </p:cNvPr>
          <p:cNvSpPr>
            <a:spLocks noGrp="1"/>
          </p:cNvSpPr>
          <p:nvPr>
            <p:ph type="title"/>
          </p:nvPr>
        </p:nvSpPr>
        <p:spPr/>
        <p:txBody>
          <a:bodyPr/>
          <a:lstStyle/>
          <a:p>
            <a:r>
              <a:rPr lang="en-US" b="1" u="sng" dirty="0"/>
              <a:t>Solution </a:t>
            </a:r>
          </a:p>
        </p:txBody>
      </p:sp>
      <p:sp>
        <p:nvSpPr>
          <p:cNvPr id="3" name="Content Placeholder 2">
            <a:extLst>
              <a:ext uri="{FF2B5EF4-FFF2-40B4-BE49-F238E27FC236}">
                <a16:creationId xmlns:a16="http://schemas.microsoft.com/office/drawing/2014/main" id="{CB856AF0-1019-E1AB-B0CF-5527C7BD0EB0}"/>
              </a:ext>
            </a:extLst>
          </p:cNvPr>
          <p:cNvSpPr>
            <a:spLocks noGrp="1"/>
          </p:cNvSpPr>
          <p:nvPr>
            <p:ph sz="half" idx="2"/>
          </p:nvPr>
        </p:nvSpPr>
        <p:spPr>
          <a:xfrm>
            <a:off x="1959991" y="2607066"/>
            <a:ext cx="4903266" cy="3367594"/>
          </a:xfrm>
        </p:spPr>
        <p:txBody>
          <a:bodyPr>
            <a:normAutofit fontScale="77500" lnSpcReduction="20000"/>
          </a:bodyPr>
          <a:lstStyle/>
          <a:p>
            <a:pPr marL="0" indent="0">
              <a:buNone/>
            </a:pPr>
            <a:r>
              <a:rPr lang="en-US" dirty="0"/>
              <a:t>Clinical Risk Scoring </a:t>
            </a:r>
          </a:p>
          <a:p>
            <a:pPr marL="0" indent="0">
              <a:buNone/>
            </a:pPr>
            <a:endParaRPr lang="en-US" dirty="0"/>
          </a:p>
          <a:p>
            <a:pPr marL="0" indent="0">
              <a:buNone/>
            </a:pPr>
            <a:r>
              <a:rPr lang="en-US" dirty="0"/>
              <a:t>Decision Support</a:t>
            </a:r>
          </a:p>
          <a:p>
            <a:pPr marL="0" indent="0">
              <a:buNone/>
            </a:pPr>
            <a:endParaRPr lang="en-US" dirty="0"/>
          </a:p>
          <a:p>
            <a:pPr marL="0" indent="0">
              <a:buNone/>
            </a:pPr>
            <a:r>
              <a:rPr lang="en-US" dirty="0"/>
              <a:t>Documentation Review </a:t>
            </a:r>
          </a:p>
          <a:p>
            <a:pPr marL="0" indent="0">
              <a:buNone/>
            </a:pPr>
            <a:endParaRPr lang="en-US" dirty="0"/>
          </a:p>
          <a:p>
            <a:pPr marL="0" indent="0">
              <a:buNone/>
            </a:pPr>
            <a:r>
              <a:rPr lang="en-US" dirty="0"/>
              <a:t>Payment Integrity </a:t>
            </a:r>
          </a:p>
          <a:p>
            <a:pPr marL="0" indent="0">
              <a:buNone/>
            </a:pPr>
            <a:endParaRPr lang="en-US" dirty="0"/>
          </a:p>
          <a:p>
            <a:pPr marL="0" indent="0">
              <a:buNone/>
            </a:pPr>
            <a:r>
              <a:rPr lang="en-US" dirty="0"/>
              <a:t>Operations Recommendations </a:t>
            </a:r>
          </a:p>
          <a:p>
            <a:endParaRPr lang="en-US" dirty="0"/>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8B76186A-D580-89C6-0A14-17799DF0E2CD}"/>
                  </a:ext>
                </a:extLst>
              </p14:cNvPr>
              <p14:cNvContentPartPr/>
              <p14:nvPr/>
            </p14:nvContentPartPr>
            <p14:xfrm>
              <a:off x="7145597" y="4853105"/>
              <a:ext cx="360" cy="360"/>
            </p14:xfrm>
          </p:contentPart>
        </mc:Choice>
        <mc:Fallback xmlns="">
          <p:pic>
            <p:nvPicPr>
              <p:cNvPr id="28" name="Ink 27">
                <a:extLst>
                  <a:ext uri="{FF2B5EF4-FFF2-40B4-BE49-F238E27FC236}">
                    <a16:creationId xmlns:a16="http://schemas.microsoft.com/office/drawing/2014/main" id="{8B76186A-D580-89C6-0A14-17799DF0E2CD}"/>
                  </a:ext>
                </a:extLst>
              </p:cNvPr>
              <p:cNvPicPr/>
              <p:nvPr/>
            </p:nvPicPr>
            <p:blipFill>
              <a:blip r:embed="rId6"/>
              <a:stretch>
                <a:fillRect/>
              </a:stretch>
            </p:blipFill>
            <p:spPr>
              <a:xfrm>
                <a:off x="7139477" y="48469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7C6C8290-AC72-DD2D-DD49-FBAA633BE281}"/>
                  </a:ext>
                </a:extLst>
              </p14:cNvPr>
              <p14:cNvContentPartPr/>
              <p14:nvPr/>
            </p14:nvContentPartPr>
            <p14:xfrm>
              <a:off x="7145597" y="4196465"/>
              <a:ext cx="360" cy="360"/>
            </p14:xfrm>
          </p:contentPart>
        </mc:Choice>
        <mc:Fallback xmlns="">
          <p:pic>
            <p:nvPicPr>
              <p:cNvPr id="29" name="Ink 28">
                <a:extLst>
                  <a:ext uri="{FF2B5EF4-FFF2-40B4-BE49-F238E27FC236}">
                    <a16:creationId xmlns:a16="http://schemas.microsoft.com/office/drawing/2014/main" id="{7C6C8290-AC72-DD2D-DD49-FBAA633BE281}"/>
                  </a:ext>
                </a:extLst>
              </p:cNvPr>
              <p:cNvPicPr/>
              <p:nvPr/>
            </p:nvPicPr>
            <p:blipFill>
              <a:blip r:embed="rId6"/>
              <a:stretch>
                <a:fillRect/>
              </a:stretch>
            </p:blipFill>
            <p:spPr>
              <a:xfrm>
                <a:off x="7139477" y="419034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0" name="Ink 29">
                <a:extLst>
                  <a:ext uri="{FF2B5EF4-FFF2-40B4-BE49-F238E27FC236}">
                    <a16:creationId xmlns:a16="http://schemas.microsoft.com/office/drawing/2014/main" id="{CABD17CF-54F0-7773-6B15-2432C9ED3492}"/>
                  </a:ext>
                </a:extLst>
              </p14:cNvPr>
              <p14:cNvContentPartPr/>
              <p14:nvPr/>
            </p14:nvContentPartPr>
            <p14:xfrm>
              <a:off x="10492652" y="2794265"/>
              <a:ext cx="2160" cy="360"/>
            </p14:xfrm>
          </p:contentPart>
        </mc:Choice>
        <mc:Fallback xmlns="">
          <p:pic>
            <p:nvPicPr>
              <p:cNvPr id="30" name="Ink 29">
                <a:extLst>
                  <a:ext uri="{FF2B5EF4-FFF2-40B4-BE49-F238E27FC236}">
                    <a16:creationId xmlns:a16="http://schemas.microsoft.com/office/drawing/2014/main" id="{CABD17CF-54F0-7773-6B15-2432C9ED3492}"/>
                  </a:ext>
                </a:extLst>
              </p:cNvPr>
              <p:cNvPicPr/>
              <p:nvPr/>
            </p:nvPicPr>
            <p:blipFill>
              <a:blip r:embed="rId9"/>
              <a:stretch>
                <a:fillRect/>
              </a:stretch>
            </p:blipFill>
            <p:spPr>
              <a:xfrm>
                <a:off x="10486532" y="2788145"/>
                <a:ext cx="144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1" name="Ink 30">
                <a:extLst>
                  <a:ext uri="{FF2B5EF4-FFF2-40B4-BE49-F238E27FC236}">
                    <a16:creationId xmlns:a16="http://schemas.microsoft.com/office/drawing/2014/main" id="{50D4E13B-E90E-0670-58FB-F87E022A7508}"/>
                  </a:ext>
                </a:extLst>
              </p14:cNvPr>
              <p14:cNvContentPartPr/>
              <p14:nvPr/>
            </p14:nvContentPartPr>
            <p14:xfrm>
              <a:off x="-1031308" y="697985"/>
              <a:ext cx="360" cy="2160"/>
            </p14:xfrm>
          </p:contentPart>
        </mc:Choice>
        <mc:Fallback xmlns="">
          <p:pic>
            <p:nvPicPr>
              <p:cNvPr id="31" name="Ink 30">
                <a:extLst>
                  <a:ext uri="{FF2B5EF4-FFF2-40B4-BE49-F238E27FC236}">
                    <a16:creationId xmlns:a16="http://schemas.microsoft.com/office/drawing/2014/main" id="{50D4E13B-E90E-0670-58FB-F87E022A7508}"/>
                  </a:ext>
                </a:extLst>
              </p:cNvPr>
              <p:cNvPicPr/>
              <p:nvPr/>
            </p:nvPicPr>
            <p:blipFill>
              <a:blip r:embed="rId11"/>
              <a:stretch>
                <a:fillRect/>
              </a:stretch>
            </p:blipFill>
            <p:spPr>
              <a:xfrm>
                <a:off x="-1037428" y="691865"/>
                <a:ext cx="1260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2" name="Ink 31">
                <a:extLst>
                  <a:ext uri="{FF2B5EF4-FFF2-40B4-BE49-F238E27FC236}">
                    <a16:creationId xmlns:a16="http://schemas.microsoft.com/office/drawing/2014/main" id="{ADCE7463-863D-AF12-823A-F937C2748B6F}"/>
                  </a:ext>
                </a:extLst>
              </p14:cNvPr>
              <p14:cNvContentPartPr/>
              <p14:nvPr/>
            </p14:nvContentPartPr>
            <p14:xfrm>
              <a:off x="4167405" y="4645177"/>
              <a:ext cx="2160" cy="360"/>
            </p14:xfrm>
          </p:contentPart>
        </mc:Choice>
        <mc:Fallback xmlns="">
          <p:pic>
            <p:nvPicPr>
              <p:cNvPr id="32" name="Ink 31">
                <a:extLst>
                  <a:ext uri="{FF2B5EF4-FFF2-40B4-BE49-F238E27FC236}">
                    <a16:creationId xmlns:a16="http://schemas.microsoft.com/office/drawing/2014/main" id="{ADCE7463-863D-AF12-823A-F937C2748B6F}"/>
                  </a:ext>
                </a:extLst>
              </p:cNvPr>
              <p:cNvPicPr/>
              <p:nvPr/>
            </p:nvPicPr>
            <p:blipFill>
              <a:blip r:embed="rId9"/>
              <a:stretch>
                <a:fillRect/>
              </a:stretch>
            </p:blipFill>
            <p:spPr>
              <a:xfrm>
                <a:off x="4161285" y="4639057"/>
                <a:ext cx="144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a:extLst>
                  <a:ext uri="{FF2B5EF4-FFF2-40B4-BE49-F238E27FC236}">
                    <a16:creationId xmlns:a16="http://schemas.microsoft.com/office/drawing/2014/main" id="{7F5EF6E9-D5E7-A573-0E41-6AC33D375994}"/>
                  </a:ext>
                </a:extLst>
              </p14:cNvPr>
              <p14:cNvContentPartPr/>
              <p14:nvPr/>
            </p14:nvContentPartPr>
            <p14:xfrm>
              <a:off x="4348172" y="2607065"/>
              <a:ext cx="360" cy="2160"/>
            </p14:xfrm>
          </p:contentPart>
        </mc:Choice>
        <mc:Fallback xmlns="">
          <p:pic>
            <p:nvPicPr>
              <p:cNvPr id="36" name="Ink 35">
                <a:extLst>
                  <a:ext uri="{FF2B5EF4-FFF2-40B4-BE49-F238E27FC236}">
                    <a16:creationId xmlns:a16="http://schemas.microsoft.com/office/drawing/2014/main" id="{7F5EF6E9-D5E7-A573-0E41-6AC33D375994}"/>
                  </a:ext>
                </a:extLst>
              </p:cNvPr>
              <p:cNvPicPr/>
              <p:nvPr/>
            </p:nvPicPr>
            <p:blipFill>
              <a:blip r:embed="rId11"/>
              <a:stretch>
                <a:fillRect/>
              </a:stretch>
            </p:blipFill>
            <p:spPr>
              <a:xfrm>
                <a:off x="4342052" y="2600945"/>
                <a:ext cx="1260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7" name="Ink 36">
                <a:extLst>
                  <a:ext uri="{FF2B5EF4-FFF2-40B4-BE49-F238E27FC236}">
                    <a16:creationId xmlns:a16="http://schemas.microsoft.com/office/drawing/2014/main" id="{08237466-D3F7-3DF4-3F9B-212F606BB67A}"/>
                  </a:ext>
                </a:extLst>
              </p14:cNvPr>
              <p14:cNvContentPartPr/>
              <p14:nvPr/>
            </p14:nvContentPartPr>
            <p14:xfrm>
              <a:off x="6477525" y="2798017"/>
              <a:ext cx="2160" cy="360"/>
            </p14:xfrm>
          </p:contentPart>
        </mc:Choice>
        <mc:Fallback xmlns="">
          <p:pic>
            <p:nvPicPr>
              <p:cNvPr id="37" name="Ink 36">
                <a:extLst>
                  <a:ext uri="{FF2B5EF4-FFF2-40B4-BE49-F238E27FC236}">
                    <a16:creationId xmlns:a16="http://schemas.microsoft.com/office/drawing/2014/main" id="{08237466-D3F7-3DF4-3F9B-212F606BB67A}"/>
                  </a:ext>
                </a:extLst>
              </p:cNvPr>
              <p:cNvPicPr/>
              <p:nvPr/>
            </p:nvPicPr>
            <p:blipFill>
              <a:blip r:embed="rId9"/>
              <a:stretch>
                <a:fillRect/>
              </a:stretch>
            </p:blipFill>
            <p:spPr>
              <a:xfrm>
                <a:off x="6471405" y="2791897"/>
                <a:ext cx="144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8" name="Ink 37">
                <a:extLst>
                  <a:ext uri="{FF2B5EF4-FFF2-40B4-BE49-F238E27FC236}">
                    <a16:creationId xmlns:a16="http://schemas.microsoft.com/office/drawing/2014/main" id="{FFA681E1-32CD-93FC-1837-D40243493DCF}"/>
                  </a:ext>
                </a:extLst>
              </p14:cNvPr>
              <p14:cNvContentPartPr/>
              <p14:nvPr/>
            </p14:nvContentPartPr>
            <p14:xfrm>
              <a:off x="4523492" y="2113865"/>
              <a:ext cx="360" cy="360"/>
            </p14:xfrm>
          </p:contentPart>
        </mc:Choice>
        <mc:Fallback xmlns="">
          <p:pic>
            <p:nvPicPr>
              <p:cNvPr id="38" name="Ink 37">
                <a:extLst>
                  <a:ext uri="{FF2B5EF4-FFF2-40B4-BE49-F238E27FC236}">
                    <a16:creationId xmlns:a16="http://schemas.microsoft.com/office/drawing/2014/main" id="{FFA681E1-32CD-93FC-1837-D40243493DCF}"/>
                  </a:ext>
                </a:extLst>
              </p:cNvPr>
              <p:cNvPicPr/>
              <p:nvPr/>
            </p:nvPicPr>
            <p:blipFill>
              <a:blip r:embed="rId6"/>
              <a:stretch>
                <a:fillRect/>
              </a:stretch>
            </p:blipFill>
            <p:spPr>
              <a:xfrm>
                <a:off x="4517372" y="2107745"/>
                <a:ext cx="12600" cy="12600"/>
              </a:xfrm>
              <a:prstGeom prst="rect">
                <a:avLst/>
              </a:prstGeom>
            </p:spPr>
          </p:pic>
        </mc:Fallback>
      </mc:AlternateContent>
      <p:sp>
        <p:nvSpPr>
          <p:cNvPr id="39" name="TextBox 38">
            <a:extLst>
              <a:ext uri="{FF2B5EF4-FFF2-40B4-BE49-F238E27FC236}">
                <a16:creationId xmlns:a16="http://schemas.microsoft.com/office/drawing/2014/main" id="{6CF4E2BB-F8B5-EBB4-3D4C-D74DF16E778A}"/>
              </a:ext>
            </a:extLst>
          </p:cNvPr>
          <p:cNvSpPr txBox="1"/>
          <p:nvPr/>
        </p:nvSpPr>
        <p:spPr>
          <a:xfrm>
            <a:off x="6654633" y="2314199"/>
            <a:ext cx="4437833" cy="3693319"/>
          </a:xfrm>
          <a:prstGeom prst="rect">
            <a:avLst/>
          </a:prstGeom>
          <a:noFill/>
        </p:spPr>
        <p:txBody>
          <a:bodyPr wrap="square" rtlCol="0">
            <a:spAutoFit/>
          </a:bodyPr>
          <a:lstStyle/>
          <a:p>
            <a:pPr>
              <a:buNone/>
            </a:pPr>
            <a:endParaRPr lang="en-US" sz="2400" dirty="0"/>
          </a:p>
          <a:p>
            <a:pPr>
              <a:buNone/>
            </a:pPr>
            <a:r>
              <a:rPr lang="en-US" sz="2400" dirty="0"/>
              <a:t>Patient Data</a:t>
            </a:r>
          </a:p>
          <a:p>
            <a:pPr>
              <a:buNone/>
            </a:pPr>
            <a:r>
              <a:rPr lang="en-US" sz="2400" dirty="0"/>
              <a:t>       </a:t>
            </a:r>
          </a:p>
          <a:p>
            <a:pPr>
              <a:buNone/>
            </a:pPr>
            <a:r>
              <a:rPr lang="en-US" sz="2400" dirty="0"/>
              <a:t>Clinical Analysis </a:t>
            </a:r>
          </a:p>
          <a:p>
            <a:pPr>
              <a:buNone/>
            </a:pPr>
            <a:endParaRPr lang="en-US" sz="2400" dirty="0"/>
          </a:p>
          <a:p>
            <a:pPr>
              <a:buNone/>
            </a:pPr>
            <a:endParaRPr lang="en-US" sz="2400" dirty="0"/>
          </a:p>
          <a:p>
            <a:pPr>
              <a:buNone/>
            </a:pPr>
            <a:r>
              <a:rPr lang="en-US" sz="2400" dirty="0"/>
              <a:t>Decision Support </a:t>
            </a:r>
          </a:p>
          <a:p>
            <a:pPr>
              <a:buNone/>
            </a:pPr>
            <a:br>
              <a:rPr lang="en-US" sz="2400" dirty="0"/>
            </a:br>
            <a:r>
              <a:rPr lang="en-US" sz="2400" dirty="0"/>
              <a:t>Treatment, Payment, Operations </a:t>
            </a:r>
          </a:p>
          <a:p>
            <a:endParaRPr lang="en-US" dirty="0"/>
          </a:p>
        </p:txBody>
      </p:sp>
      <p:cxnSp>
        <p:nvCxnSpPr>
          <p:cNvPr id="45" name="Straight Connector 44">
            <a:extLst>
              <a:ext uri="{FF2B5EF4-FFF2-40B4-BE49-F238E27FC236}">
                <a16:creationId xmlns:a16="http://schemas.microsoft.com/office/drawing/2014/main" id="{FF3933A5-FAD5-5B6E-FB5A-1730F8142C9A}"/>
              </a:ext>
            </a:extLst>
          </p:cNvPr>
          <p:cNvCxnSpPr>
            <a:cxnSpLocks/>
          </p:cNvCxnSpPr>
          <p:nvPr/>
        </p:nvCxnSpPr>
        <p:spPr>
          <a:xfrm>
            <a:off x="6533174" y="2701078"/>
            <a:ext cx="36859" cy="2937108"/>
          </a:xfrm>
          <a:prstGeom prst="line">
            <a:avLst/>
          </a:prstGeom>
        </p:spPr>
        <p:style>
          <a:lnRef idx="1">
            <a:schemeClr val="accent1"/>
          </a:lnRef>
          <a:fillRef idx="0">
            <a:schemeClr val="accent1"/>
          </a:fillRef>
          <a:effectRef idx="0">
            <a:schemeClr val="accent1"/>
          </a:effectRef>
          <a:fontRef idx="minor">
            <a:schemeClr val="tx1"/>
          </a:fontRef>
        </p:style>
      </p:cxnSp>
      <p:sp>
        <p:nvSpPr>
          <p:cNvPr id="54" name="Down Arrow 53">
            <a:extLst>
              <a:ext uri="{FF2B5EF4-FFF2-40B4-BE49-F238E27FC236}">
                <a16:creationId xmlns:a16="http://schemas.microsoft.com/office/drawing/2014/main" id="{0864A189-CA4A-2955-BF2F-23999B488753}"/>
              </a:ext>
            </a:extLst>
          </p:cNvPr>
          <p:cNvSpPr/>
          <p:nvPr/>
        </p:nvSpPr>
        <p:spPr>
          <a:xfrm flipH="1">
            <a:off x="7523282" y="4924237"/>
            <a:ext cx="244034" cy="3928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own Arrow 54">
            <a:extLst>
              <a:ext uri="{FF2B5EF4-FFF2-40B4-BE49-F238E27FC236}">
                <a16:creationId xmlns:a16="http://schemas.microsoft.com/office/drawing/2014/main" id="{92227658-6718-0A04-0904-CF40DB6D3E71}"/>
              </a:ext>
            </a:extLst>
          </p:cNvPr>
          <p:cNvSpPr/>
          <p:nvPr/>
        </p:nvSpPr>
        <p:spPr>
          <a:xfrm flipH="1">
            <a:off x="7540657" y="3916680"/>
            <a:ext cx="209077" cy="3741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Down Arrow 55">
            <a:extLst>
              <a:ext uri="{FF2B5EF4-FFF2-40B4-BE49-F238E27FC236}">
                <a16:creationId xmlns:a16="http://schemas.microsoft.com/office/drawing/2014/main" id="{FC943AB1-9591-60B6-C0EA-C3C9370F8841}"/>
              </a:ext>
            </a:extLst>
          </p:cNvPr>
          <p:cNvSpPr/>
          <p:nvPr/>
        </p:nvSpPr>
        <p:spPr>
          <a:xfrm>
            <a:off x="7540656" y="3103707"/>
            <a:ext cx="209078" cy="3675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4994DC00-C532-EBEA-0F13-89EBB3C53A1C}"/>
              </a:ext>
            </a:extLst>
          </p:cNvPr>
          <p:cNvCxnSpPr/>
          <p:nvPr/>
        </p:nvCxnSpPr>
        <p:spPr>
          <a:xfrm>
            <a:off x="2144953" y="5974659"/>
            <a:ext cx="4060555" cy="0"/>
          </a:xfrm>
          <a:prstGeom prst="line">
            <a:avLst/>
          </a:prstGeom>
        </p:spPr>
        <p:style>
          <a:lnRef idx="1">
            <a:schemeClr val="accent1"/>
          </a:lnRef>
          <a:fillRef idx="0">
            <a:schemeClr val="accent1"/>
          </a:fillRef>
          <a:effectRef idx="0">
            <a:schemeClr val="accent1"/>
          </a:effectRef>
          <a:fontRef idx="minor">
            <a:schemeClr val="tx1"/>
          </a:fontRef>
        </p:style>
      </p:cxnSp>
      <p:pic>
        <p:nvPicPr>
          <p:cNvPr id="67" name="Picture 2" descr="Hospital - Free medical icons">
            <a:extLst>
              <a:ext uri="{FF2B5EF4-FFF2-40B4-BE49-F238E27FC236}">
                <a16:creationId xmlns:a16="http://schemas.microsoft.com/office/drawing/2014/main" id="{FBF0296F-33FE-57B6-57FF-60B170FE161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14337" y="2465018"/>
            <a:ext cx="472120" cy="47212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4" descr="Brain Icon Images – Browse 1,139,750 Stock Photos, Vectors, and Video |  Adobe Stock">
            <a:extLst>
              <a:ext uri="{FF2B5EF4-FFF2-40B4-BE49-F238E27FC236}">
                <a16:creationId xmlns:a16="http://schemas.microsoft.com/office/drawing/2014/main" id="{9ECED1DE-5E17-5151-419A-26F17459446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23143" y="3152847"/>
            <a:ext cx="673765" cy="673765"/>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4" descr="Document-Review Icons - Free SVG &amp; PNG Document-Review Images - Noun Project">
            <a:extLst>
              <a:ext uri="{FF2B5EF4-FFF2-40B4-BE49-F238E27FC236}">
                <a16:creationId xmlns:a16="http://schemas.microsoft.com/office/drawing/2014/main" id="{4FD95BF3-D7AF-83C7-12F0-84FA0FF3FD4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14338" y="3966214"/>
            <a:ext cx="545654" cy="545654"/>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descr="Save money - Free business and finance icons">
            <a:extLst>
              <a:ext uri="{FF2B5EF4-FFF2-40B4-BE49-F238E27FC236}">
                <a16:creationId xmlns:a16="http://schemas.microsoft.com/office/drawing/2014/main" id="{46A5D8DA-663E-9B2A-909D-7D969A82B55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23144" y="4640265"/>
            <a:ext cx="594548" cy="59454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etting Black and White Line Icon Graphic by muhammadfaisal40 · Creative  Fabrica">
            <a:extLst>
              <a:ext uri="{FF2B5EF4-FFF2-40B4-BE49-F238E27FC236}">
                <a16:creationId xmlns:a16="http://schemas.microsoft.com/office/drawing/2014/main" id="{C4E942FD-ED55-3BAC-A99D-C6023EF66C7E}"/>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23781" t="10415" r="19543" b="14974"/>
          <a:stretch>
            <a:fillRect/>
          </a:stretch>
        </p:blipFill>
        <p:spPr bwMode="auto">
          <a:xfrm>
            <a:off x="1323143" y="5317043"/>
            <a:ext cx="636847" cy="55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6355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C804-98CD-DC1A-7FC5-19DBA266D123}"/>
              </a:ext>
            </a:extLst>
          </p:cNvPr>
          <p:cNvSpPr>
            <a:spLocks noGrp="1"/>
          </p:cNvSpPr>
          <p:nvPr>
            <p:ph type="title"/>
          </p:nvPr>
        </p:nvSpPr>
        <p:spPr/>
        <p:txBody>
          <a:bodyPr/>
          <a:lstStyle/>
          <a:p>
            <a:r>
              <a:rPr lang="en-US" b="1" u="sng" dirty="0"/>
              <a:t>Technologies Used </a:t>
            </a:r>
          </a:p>
        </p:txBody>
      </p:sp>
      <p:sp>
        <p:nvSpPr>
          <p:cNvPr id="3" name="Content Placeholder 2">
            <a:extLst>
              <a:ext uri="{FF2B5EF4-FFF2-40B4-BE49-F238E27FC236}">
                <a16:creationId xmlns:a16="http://schemas.microsoft.com/office/drawing/2014/main" id="{B45B4297-01D8-DA4A-162E-872F56BC5614}"/>
              </a:ext>
            </a:extLst>
          </p:cNvPr>
          <p:cNvSpPr>
            <a:spLocks noGrp="1"/>
          </p:cNvSpPr>
          <p:nvPr>
            <p:ph idx="1"/>
          </p:nvPr>
        </p:nvSpPr>
        <p:spPr>
          <a:xfrm>
            <a:off x="1591808" y="2557280"/>
            <a:ext cx="4291327" cy="3652482"/>
          </a:xfrm>
        </p:spPr>
        <p:txBody>
          <a:bodyPr>
            <a:normAutofit/>
          </a:bodyPr>
          <a:lstStyle/>
          <a:p>
            <a:pPr marL="0" indent="0">
              <a:buNone/>
            </a:pPr>
            <a:r>
              <a:rPr lang="en-US" dirty="0"/>
              <a:t>            Python</a:t>
            </a:r>
          </a:p>
          <a:p>
            <a:pPr marL="0" indent="0">
              <a:buNone/>
            </a:pPr>
            <a:r>
              <a:rPr lang="en-US" dirty="0"/>
              <a:t> </a:t>
            </a:r>
          </a:p>
          <a:p>
            <a:pPr marL="0" indent="0">
              <a:buNone/>
            </a:pPr>
            <a:r>
              <a:rPr lang="en-US" dirty="0"/>
              <a:t>           </a:t>
            </a:r>
            <a:r>
              <a:rPr lang="en-US" dirty="0" err="1"/>
              <a:t>Streamlit</a:t>
            </a:r>
            <a:r>
              <a:rPr lang="en-US" dirty="0"/>
              <a:t> </a:t>
            </a:r>
          </a:p>
          <a:p>
            <a:pPr marL="0" indent="0">
              <a:buNone/>
            </a:pPr>
            <a:endParaRPr lang="en-US" dirty="0"/>
          </a:p>
          <a:p>
            <a:pPr marL="0" indent="0">
              <a:buNone/>
            </a:pPr>
            <a:r>
              <a:rPr lang="en-US" dirty="0"/>
              <a:t>          Rule-Based Clinical Engine </a:t>
            </a:r>
          </a:p>
          <a:p>
            <a:pPr marL="0" indent="0">
              <a:buNone/>
            </a:pPr>
            <a:endParaRPr lang="en-US" dirty="0"/>
          </a:p>
          <a:p>
            <a:pPr marL="0" indent="0">
              <a:buNone/>
            </a:pPr>
            <a:r>
              <a:rPr lang="en-US" dirty="0"/>
              <a:t>           Healthcare Analytics </a:t>
            </a:r>
          </a:p>
        </p:txBody>
      </p:sp>
      <p:sp>
        <p:nvSpPr>
          <p:cNvPr id="4" name="Plaque 3">
            <a:extLst>
              <a:ext uri="{FF2B5EF4-FFF2-40B4-BE49-F238E27FC236}">
                <a16:creationId xmlns:a16="http://schemas.microsoft.com/office/drawing/2014/main" id="{FAACFBF8-AE46-56DA-E696-FFB56E53B509}"/>
              </a:ext>
            </a:extLst>
          </p:cNvPr>
          <p:cNvSpPr/>
          <p:nvPr/>
        </p:nvSpPr>
        <p:spPr>
          <a:xfrm>
            <a:off x="7251405" y="2743200"/>
            <a:ext cx="3104707" cy="685800"/>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Fast Prototype  </a:t>
            </a:r>
          </a:p>
        </p:txBody>
      </p:sp>
      <p:sp>
        <p:nvSpPr>
          <p:cNvPr id="5" name="Plaque 4">
            <a:extLst>
              <a:ext uri="{FF2B5EF4-FFF2-40B4-BE49-F238E27FC236}">
                <a16:creationId xmlns:a16="http://schemas.microsoft.com/office/drawing/2014/main" id="{8A0D5928-3AC6-BCC1-FB05-B7A62703506C}"/>
              </a:ext>
            </a:extLst>
          </p:cNvPr>
          <p:cNvSpPr/>
          <p:nvPr/>
        </p:nvSpPr>
        <p:spPr>
          <a:xfrm>
            <a:off x="7251404" y="3873500"/>
            <a:ext cx="3104707" cy="685800"/>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Transparent Logic </a:t>
            </a:r>
          </a:p>
        </p:txBody>
      </p:sp>
      <p:sp>
        <p:nvSpPr>
          <p:cNvPr id="6" name="Plaque 5">
            <a:extLst>
              <a:ext uri="{FF2B5EF4-FFF2-40B4-BE49-F238E27FC236}">
                <a16:creationId xmlns:a16="http://schemas.microsoft.com/office/drawing/2014/main" id="{A747196A-01C3-7E9A-D7AE-35B513A8E056}"/>
              </a:ext>
            </a:extLst>
          </p:cNvPr>
          <p:cNvSpPr/>
          <p:nvPr/>
        </p:nvSpPr>
        <p:spPr>
          <a:xfrm>
            <a:off x="7251404" y="5016501"/>
            <a:ext cx="3104707" cy="685800"/>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Healthcare Focus </a:t>
            </a:r>
          </a:p>
        </p:txBody>
      </p:sp>
      <p:pic>
        <p:nvPicPr>
          <p:cNvPr id="15" name="Picture 28" descr="Download Python Logo Free PNG photo images and clipart | FreePNGimg">
            <a:extLst>
              <a:ext uri="{FF2B5EF4-FFF2-40B4-BE49-F238E27FC236}">
                <a16:creationId xmlns:a16="http://schemas.microsoft.com/office/drawing/2014/main" id="{606946FF-21A6-B57E-D570-804AC6DC96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496" t="21831" r="23503" b="40270"/>
          <a:stretch>
            <a:fillRect/>
          </a:stretch>
        </p:blipFill>
        <p:spPr bwMode="auto">
          <a:xfrm>
            <a:off x="1295402" y="2557280"/>
            <a:ext cx="892054" cy="67615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6" descr="Building and Deploying Snowflake and Streamlit Applications">
            <a:extLst>
              <a:ext uri="{FF2B5EF4-FFF2-40B4-BE49-F238E27FC236}">
                <a16:creationId xmlns:a16="http://schemas.microsoft.com/office/drawing/2014/main" id="{D98A4612-8995-FFDA-B772-AC1BC63475A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749" t="1" r="25818" b="42426"/>
          <a:stretch>
            <a:fillRect/>
          </a:stretch>
        </p:blipFill>
        <p:spPr bwMode="auto">
          <a:xfrm>
            <a:off x="1332074" y="3420828"/>
            <a:ext cx="892054" cy="67615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nalytics - Free business and finance icons">
            <a:extLst>
              <a:ext uri="{FF2B5EF4-FFF2-40B4-BE49-F238E27FC236}">
                <a16:creationId xmlns:a16="http://schemas.microsoft.com/office/drawing/2014/main" id="{66A80872-D5A6-1CD5-13B7-32FC8C1FE1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2049" y="5458301"/>
            <a:ext cx="755358" cy="75535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descr="Brain Icon Images – Browse 1,139,750 Stock Photos, Vectors, and Video |  Adobe Stock">
            <a:extLst>
              <a:ext uri="{FF2B5EF4-FFF2-40B4-BE49-F238E27FC236}">
                <a16:creationId xmlns:a16="http://schemas.microsoft.com/office/drawing/2014/main" id="{BC6C26BA-88AD-238F-0D90-E661AAB36D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0422" y="4399962"/>
            <a:ext cx="755358" cy="755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3994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curtains"/>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03BD3-8BAD-0B83-9EAF-2604721D0433}"/>
              </a:ext>
            </a:extLst>
          </p:cNvPr>
          <p:cNvSpPr>
            <a:spLocks noGrp="1"/>
          </p:cNvSpPr>
          <p:nvPr>
            <p:ph type="title"/>
          </p:nvPr>
        </p:nvSpPr>
        <p:spPr/>
        <p:txBody>
          <a:bodyPr/>
          <a:lstStyle/>
          <a:p>
            <a:r>
              <a:rPr lang="en-US" b="1" u="sng" dirty="0"/>
              <a:t>System Workflow </a:t>
            </a:r>
          </a:p>
        </p:txBody>
      </p:sp>
      <p:sp>
        <p:nvSpPr>
          <p:cNvPr id="4" name="Plaque 3">
            <a:extLst>
              <a:ext uri="{FF2B5EF4-FFF2-40B4-BE49-F238E27FC236}">
                <a16:creationId xmlns:a16="http://schemas.microsoft.com/office/drawing/2014/main" id="{B15B8A33-014F-CC6A-A91E-64D5E7F31FC9}"/>
              </a:ext>
            </a:extLst>
          </p:cNvPr>
          <p:cNvSpPr/>
          <p:nvPr/>
        </p:nvSpPr>
        <p:spPr>
          <a:xfrm>
            <a:off x="4380613" y="2525232"/>
            <a:ext cx="4082899" cy="558215"/>
          </a:xfrm>
          <a:prstGeom prst="plaqu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Patient Information </a:t>
            </a:r>
          </a:p>
        </p:txBody>
      </p:sp>
      <p:sp>
        <p:nvSpPr>
          <p:cNvPr id="5" name="Plaque 4">
            <a:extLst>
              <a:ext uri="{FF2B5EF4-FFF2-40B4-BE49-F238E27FC236}">
                <a16:creationId xmlns:a16="http://schemas.microsoft.com/office/drawing/2014/main" id="{6DEFE93B-4386-BDBE-6897-B33D4DDD6557}"/>
              </a:ext>
            </a:extLst>
          </p:cNvPr>
          <p:cNvSpPr/>
          <p:nvPr/>
        </p:nvSpPr>
        <p:spPr>
          <a:xfrm>
            <a:off x="4380610" y="3354575"/>
            <a:ext cx="4082902" cy="489098"/>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Clinical Risk Analysis </a:t>
            </a:r>
          </a:p>
        </p:txBody>
      </p:sp>
      <p:sp>
        <p:nvSpPr>
          <p:cNvPr id="6" name="Plaque 5">
            <a:extLst>
              <a:ext uri="{FF2B5EF4-FFF2-40B4-BE49-F238E27FC236}">
                <a16:creationId xmlns:a16="http://schemas.microsoft.com/office/drawing/2014/main" id="{4CEE4D69-4F39-562B-9820-28FE758A3273}"/>
              </a:ext>
            </a:extLst>
          </p:cNvPr>
          <p:cNvSpPr/>
          <p:nvPr/>
        </p:nvSpPr>
        <p:spPr>
          <a:xfrm>
            <a:off x="4380610" y="4136068"/>
            <a:ext cx="4082903" cy="489099"/>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Documentation Review </a:t>
            </a:r>
          </a:p>
        </p:txBody>
      </p:sp>
      <p:sp>
        <p:nvSpPr>
          <p:cNvPr id="7" name="Plaque 6">
            <a:extLst>
              <a:ext uri="{FF2B5EF4-FFF2-40B4-BE49-F238E27FC236}">
                <a16:creationId xmlns:a16="http://schemas.microsoft.com/office/drawing/2014/main" id="{2D844846-754B-E039-B0BF-FA1283811844}"/>
              </a:ext>
            </a:extLst>
          </p:cNvPr>
          <p:cNvSpPr/>
          <p:nvPr/>
        </p:nvSpPr>
        <p:spPr>
          <a:xfrm>
            <a:off x="4380610" y="4917562"/>
            <a:ext cx="4082902" cy="489098"/>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Operations Recommendation</a:t>
            </a:r>
          </a:p>
        </p:txBody>
      </p:sp>
      <p:sp>
        <p:nvSpPr>
          <p:cNvPr id="8" name="Plaque 7">
            <a:extLst>
              <a:ext uri="{FF2B5EF4-FFF2-40B4-BE49-F238E27FC236}">
                <a16:creationId xmlns:a16="http://schemas.microsoft.com/office/drawing/2014/main" id="{6FC2670F-874A-3857-26FC-91F2E40F8FED}"/>
              </a:ext>
            </a:extLst>
          </p:cNvPr>
          <p:cNvSpPr/>
          <p:nvPr/>
        </p:nvSpPr>
        <p:spPr>
          <a:xfrm>
            <a:off x="4380610" y="5699055"/>
            <a:ext cx="4082902" cy="489099"/>
          </a:xfrm>
          <a:prstGeom prst="plaqu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Export Report </a:t>
            </a:r>
          </a:p>
        </p:txBody>
      </p:sp>
      <p:sp>
        <p:nvSpPr>
          <p:cNvPr id="12" name="Down Arrow 11">
            <a:extLst>
              <a:ext uri="{FF2B5EF4-FFF2-40B4-BE49-F238E27FC236}">
                <a16:creationId xmlns:a16="http://schemas.microsoft.com/office/drawing/2014/main" id="{1C37619F-F270-055D-D59A-A554F7E41A3B}"/>
              </a:ext>
            </a:extLst>
          </p:cNvPr>
          <p:cNvSpPr/>
          <p:nvPr/>
        </p:nvSpPr>
        <p:spPr>
          <a:xfrm>
            <a:off x="6262568" y="3088761"/>
            <a:ext cx="148856" cy="239233"/>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4E062645-48DB-3011-8F4E-7412D5A8A5F5}"/>
              </a:ext>
            </a:extLst>
          </p:cNvPr>
          <p:cNvSpPr/>
          <p:nvPr/>
        </p:nvSpPr>
        <p:spPr>
          <a:xfrm>
            <a:off x="6262568" y="3891522"/>
            <a:ext cx="148856" cy="239233"/>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2BF9C293-91E4-F0DC-CBA0-330379E0D42D}"/>
              </a:ext>
            </a:extLst>
          </p:cNvPr>
          <p:cNvSpPr/>
          <p:nvPr/>
        </p:nvSpPr>
        <p:spPr>
          <a:xfrm>
            <a:off x="6220033" y="5454509"/>
            <a:ext cx="148856" cy="239233"/>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31DFA8BB-82A7-BE8D-82B1-C2F23AD3242A}"/>
              </a:ext>
            </a:extLst>
          </p:cNvPr>
          <p:cNvSpPr/>
          <p:nvPr/>
        </p:nvSpPr>
        <p:spPr>
          <a:xfrm>
            <a:off x="6273205" y="4651748"/>
            <a:ext cx="148856" cy="239233"/>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Document-Review Icons - Free SVG &amp; PNG Document-Review Images - Noun Project">
            <a:extLst>
              <a:ext uri="{FF2B5EF4-FFF2-40B4-BE49-F238E27FC236}">
                <a16:creationId xmlns:a16="http://schemas.microsoft.com/office/drawing/2014/main" id="{09D442A9-7841-0698-96C8-865691B87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3546" y="2559099"/>
            <a:ext cx="1303868" cy="130386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Operations - Free seo and web icons">
            <a:extLst>
              <a:ext uri="{FF2B5EF4-FFF2-40B4-BE49-F238E27FC236}">
                <a16:creationId xmlns:a16="http://schemas.microsoft.com/office/drawing/2014/main" id="{EE50E60D-0F15-D911-3FA0-3CC5B5C468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1957" y="4665659"/>
            <a:ext cx="1346200" cy="134620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Risk analysis - Free healthcare and medical icons">
            <a:extLst>
              <a:ext uri="{FF2B5EF4-FFF2-40B4-BE49-F238E27FC236}">
                <a16:creationId xmlns:a16="http://schemas.microsoft.com/office/drawing/2014/main" id="{9CACCC12-CF11-073D-DFBF-E76D2339E7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1462" y="4484854"/>
            <a:ext cx="1524926" cy="1524926"/>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Icon representing medical information, featuring healthcare symbols and  informational elements 49393860 Vector Art at Vecteezy">
            <a:extLst>
              <a:ext uri="{FF2B5EF4-FFF2-40B4-BE49-F238E27FC236}">
                <a16:creationId xmlns:a16="http://schemas.microsoft.com/office/drawing/2014/main" id="{22CC861C-7556-CC1B-1A01-CC7BFC7C16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2" y="2373147"/>
            <a:ext cx="1789614" cy="1789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65455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43" name="Picture 42">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4" name="Rectangle 43">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5" name="Picture 44">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46" name="Picture 45">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48" name="Straight Connector 47">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53" name="Picture 52">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4" name="Rectangle 53">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5" name="Picture 54">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56" name="Picture 55">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FF244182-3D7C-DEE9-8686-724E632C570C}"/>
              </a:ext>
            </a:extLst>
          </p:cNvPr>
          <p:cNvSpPr>
            <a:spLocks noGrp="1"/>
          </p:cNvSpPr>
          <p:nvPr>
            <p:ph type="title"/>
          </p:nvPr>
        </p:nvSpPr>
        <p:spPr>
          <a:xfrm>
            <a:off x="1627320" y="433092"/>
            <a:ext cx="8244814" cy="733845"/>
          </a:xfrm>
        </p:spPr>
        <p:txBody>
          <a:bodyPr vert="horz" lIns="91440" tIns="45720" rIns="91440" bIns="45720" rtlCol="0" anchor="b">
            <a:normAutofit fontScale="90000"/>
          </a:bodyPr>
          <a:lstStyle/>
          <a:p>
            <a:r>
              <a:rPr lang="en-US" sz="4800" b="1" u="sng" dirty="0">
                <a:solidFill>
                  <a:srgbClr val="262626"/>
                </a:solidFill>
              </a:rPr>
              <a:t>Proof of Concept </a:t>
            </a:r>
          </a:p>
        </p:txBody>
      </p:sp>
      <p:pic>
        <p:nvPicPr>
          <p:cNvPr id="37" name="Picture 36" descr="A screenshot of a computer&#10;&#10;AI-generated content may be incorrect.">
            <a:extLst>
              <a:ext uri="{FF2B5EF4-FFF2-40B4-BE49-F238E27FC236}">
                <a16:creationId xmlns:a16="http://schemas.microsoft.com/office/drawing/2014/main" id="{6881AEFB-E406-022F-FB61-8EA477820A64}"/>
              </a:ext>
            </a:extLst>
          </p:cNvPr>
          <p:cNvPicPr>
            <a:picLocks noChangeAspect="1"/>
          </p:cNvPicPr>
          <p:nvPr/>
        </p:nvPicPr>
        <p:blipFill>
          <a:blip r:embed="rId8"/>
          <a:stretch>
            <a:fillRect/>
          </a:stretch>
        </p:blipFill>
        <p:spPr>
          <a:xfrm>
            <a:off x="579658" y="1104814"/>
            <a:ext cx="11016889" cy="5250900"/>
          </a:xfrm>
          <a:prstGeom prst="rect">
            <a:avLst/>
          </a:prstGeom>
          <a:ln w="57150" cmpd="thickThin">
            <a:solidFill>
              <a:srgbClr val="7F7F7F"/>
            </a:solidFill>
            <a:miter lim="800000"/>
          </a:ln>
        </p:spPr>
      </p:pic>
    </p:spTree>
    <p:extLst>
      <p:ext uri="{BB962C8B-B14F-4D97-AF65-F5344CB8AC3E}">
        <p14:creationId xmlns:p14="http://schemas.microsoft.com/office/powerpoint/2010/main" val="28919914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D83B-C040-7F09-4390-77991E31FAD4}"/>
              </a:ext>
            </a:extLst>
          </p:cNvPr>
          <p:cNvSpPr>
            <a:spLocks noGrp="1"/>
          </p:cNvSpPr>
          <p:nvPr>
            <p:ph type="title"/>
          </p:nvPr>
        </p:nvSpPr>
        <p:spPr/>
        <p:txBody>
          <a:bodyPr/>
          <a:lstStyle/>
          <a:p>
            <a:r>
              <a:rPr lang="en-US" b="1" u="sng" dirty="0"/>
              <a:t>Key Features </a:t>
            </a:r>
          </a:p>
        </p:txBody>
      </p:sp>
      <p:sp>
        <p:nvSpPr>
          <p:cNvPr id="4" name="Rounded Rectangle 3">
            <a:extLst>
              <a:ext uri="{FF2B5EF4-FFF2-40B4-BE49-F238E27FC236}">
                <a16:creationId xmlns:a16="http://schemas.microsoft.com/office/drawing/2014/main" id="{9FDB8894-BF29-B347-F226-71FD84381368}"/>
              </a:ext>
            </a:extLst>
          </p:cNvPr>
          <p:cNvSpPr/>
          <p:nvPr/>
        </p:nvSpPr>
        <p:spPr>
          <a:xfrm>
            <a:off x="1195752" y="2567353"/>
            <a:ext cx="2479432" cy="172329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Clinical Risk</a:t>
            </a:r>
          </a:p>
          <a:p>
            <a:pPr algn="ctr"/>
            <a:r>
              <a:rPr lang="en-US" dirty="0">
                <a:solidFill>
                  <a:schemeClr val="tx1"/>
                </a:solidFill>
              </a:rPr>
              <a:t> Score </a:t>
            </a:r>
          </a:p>
        </p:txBody>
      </p:sp>
      <p:sp>
        <p:nvSpPr>
          <p:cNvPr id="5" name="Rounded Rectangle 4">
            <a:extLst>
              <a:ext uri="{FF2B5EF4-FFF2-40B4-BE49-F238E27FC236}">
                <a16:creationId xmlns:a16="http://schemas.microsoft.com/office/drawing/2014/main" id="{4EB73A35-7587-2854-182C-B967CBC89892}"/>
              </a:ext>
            </a:extLst>
          </p:cNvPr>
          <p:cNvSpPr/>
          <p:nvPr/>
        </p:nvSpPr>
        <p:spPr>
          <a:xfrm>
            <a:off x="1195752" y="4572001"/>
            <a:ext cx="2479431" cy="160019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Payment </a:t>
            </a:r>
          </a:p>
          <a:p>
            <a:pPr algn="ctr"/>
            <a:r>
              <a:rPr lang="en-US" dirty="0">
                <a:solidFill>
                  <a:schemeClr val="tx1"/>
                </a:solidFill>
              </a:rPr>
              <a:t>Integrity </a:t>
            </a:r>
          </a:p>
        </p:txBody>
      </p:sp>
      <p:sp>
        <p:nvSpPr>
          <p:cNvPr id="6" name="Rounded Rectangle 5">
            <a:extLst>
              <a:ext uri="{FF2B5EF4-FFF2-40B4-BE49-F238E27FC236}">
                <a16:creationId xmlns:a16="http://schemas.microsoft.com/office/drawing/2014/main" id="{26A52B2C-6E9E-E8F5-5A94-287033F006BD}"/>
              </a:ext>
            </a:extLst>
          </p:cNvPr>
          <p:cNvSpPr/>
          <p:nvPr/>
        </p:nvSpPr>
        <p:spPr>
          <a:xfrm>
            <a:off x="4267200" y="4572001"/>
            <a:ext cx="2608384" cy="160019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ICD-10 </a:t>
            </a:r>
            <a:br>
              <a:rPr lang="en-US" dirty="0">
                <a:solidFill>
                  <a:schemeClr val="tx1"/>
                </a:solidFill>
              </a:rPr>
            </a:br>
            <a:r>
              <a:rPr lang="en-US" dirty="0">
                <a:solidFill>
                  <a:schemeClr val="tx1"/>
                </a:solidFill>
              </a:rPr>
              <a:t>suggestions </a:t>
            </a:r>
          </a:p>
        </p:txBody>
      </p:sp>
      <p:sp>
        <p:nvSpPr>
          <p:cNvPr id="7" name="Rounded Rectangle 6">
            <a:extLst>
              <a:ext uri="{FF2B5EF4-FFF2-40B4-BE49-F238E27FC236}">
                <a16:creationId xmlns:a16="http://schemas.microsoft.com/office/drawing/2014/main" id="{DA7AB0FF-428E-F6B4-568D-FD7750838857}"/>
              </a:ext>
            </a:extLst>
          </p:cNvPr>
          <p:cNvSpPr/>
          <p:nvPr/>
        </p:nvSpPr>
        <p:spPr>
          <a:xfrm>
            <a:off x="4267201" y="2567353"/>
            <a:ext cx="2608384" cy="172329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dirty="0">
                <a:solidFill>
                  <a:schemeClr val="tx1"/>
                </a:solidFill>
              </a:rPr>
            </a:br>
            <a:br>
              <a:rPr lang="en-US" dirty="0">
                <a:solidFill>
                  <a:schemeClr val="tx1"/>
                </a:solidFill>
              </a:rPr>
            </a:br>
            <a:br>
              <a:rPr lang="en-US" dirty="0">
                <a:solidFill>
                  <a:schemeClr val="tx1"/>
                </a:solidFill>
              </a:rPr>
            </a:br>
            <a:br>
              <a:rPr lang="en-US" dirty="0">
                <a:solidFill>
                  <a:schemeClr val="tx1"/>
                </a:solidFill>
              </a:rPr>
            </a:br>
            <a:r>
              <a:rPr lang="en-US" dirty="0">
                <a:solidFill>
                  <a:schemeClr val="tx1"/>
                </a:solidFill>
              </a:rPr>
              <a:t>Clinical </a:t>
            </a:r>
          </a:p>
          <a:p>
            <a:pPr algn="ctr"/>
            <a:r>
              <a:rPr lang="en-US" dirty="0">
                <a:solidFill>
                  <a:schemeClr val="tx1"/>
                </a:solidFill>
              </a:rPr>
              <a:t>Reasoning</a:t>
            </a:r>
            <a:br>
              <a:rPr lang="en-US" dirty="0">
                <a:solidFill>
                  <a:schemeClr val="tx1"/>
                </a:solidFill>
              </a:rPr>
            </a:br>
            <a:r>
              <a:rPr lang="en-US" dirty="0">
                <a:solidFill>
                  <a:schemeClr val="tx1"/>
                </a:solidFill>
              </a:rPr>
              <a:t> </a:t>
            </a:r>
          </a:p>
        </p:txBody>
      </p:sp>
      <p:sp>
        <p:nvSpPr>
          <p:cNvPr id="8" name="Rounded Rectangle 7">
            <a:extLst>
              <a:ext uri="{FF2B5EF4-FFF2-40B4-BE49-F238E27FC236}">
                <a16:creationId xmlns:a16="http://schemas.microsoft.com/office/drawing/2014/main" id="{26CB5B93-FB4D-7415-5AE7-0EE5A4AA43E6}"/>
              </a:ext>
            </a:extLst>
          </p:cNvPr>
          <p:cNvSpPr/>
          <p:nvPr/>
        </p:nvSpPr>
        <p:spPr>
          <a:xfrm>
            <a:off x="7737231" y="2567353"/>
            <a:ext cx="2356338" cy="172329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Documentation </a:t>
            </a:r>
          </a:p>
          <a:p>
            <a:pPr algn="ctr"/>
            <a:r>
              <a:rPr lang="en-US" dirty="0">
                <a:solidFill>
                  <a:schemeClr val="tx1"/>
                </a:solidFill>
              </a:rPr>
              <a:t>Review</a:t>
            </a:r>
          </a:p>
        </p:txBody>
      </p:sp>
      <p:sp>
        <p:nvSpPr>
          <p:cNvPr id="9" name="Rounded Rectangle 8">
            <a:extLst>
              <a:ext uri="{FF2B5EF4-FFF2-40B4-BE49-F238E27FC236}">
                <a16:creationId xmlns:a16="http://schemas.microsoft.com/office/drawing/2014/main" id="{1485DE3A-4309-4201-2800-74ABB7D817EF}"/>
              </a:ext>
            </a:extLst>
          </p:cNvPr>
          <p:cNvSpPr/>
          <p:nvPr/>
        </p:nvSpPr>
        <p:spPr>
          <a:xfrm>
            <a:off x="7737230" y="4572001"/>
            <a:ext cx="2356337" cy="160019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a:solidFill>
                  <a:schemeClr val="tx1"/>
                </a:solidFill>
              </a:rPr>
              <a:t>Export</a:t>
            </a:r>
            <a:endParaRPr lang="en-US" dirty="0">
              <a:solidFill>
                <a:schemeClr val="tx1"/>
              </a:solidFill>
            </a:endParaRPr>
          </a:p>
          <a:p>
            <a:pPr algn="ctr"/>
            <a:r>
              <a:rPr lang="en-US" dirty="0">
                <a:solidFill>
                  <a:schemeClr val="tx1"/>
                </a:solidFill>
              </a:rPr>
              <a:t> Report </a:t>
            </a:r>
          </a:p>
        </p:txBody>
      </p:sp>
      <p:pic>
        <p:nvPicPr>
          <p:cNvPr id="14" name="Picture 4" descr="Flat Icon Of Document Review Concept Evaluation Search Scrutiny Vector,  Evaluation, Search, Scrutiny PNG and Vector with Transparent Background for  Free Download">
            <a:extLst>
              <a:ext uri="{FF2B5EF4-FFF2-40B4-BE49-F238E27FC236}">
                <a16:creationId xmlns:a16="http://schemas.microsoft.com/office/drawing/2014/main" id="{5F9E935F-36FC-BBED-85D8-E1AE60D02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627"/>
          <a:stretch>
            <a:fillRect/>
          </a:stretch>
        </p:blipFill>
        <p:spPr bwMode="auto">
          <a:xfrm>
            <a:off x="8490280" y="2691942"/>
            <a:ext cx="850235" cy="84487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867,400+ Money Icon Stock Illustrations, Royalty-Free Vector Graphics &amp;  Clip Art - iStock | Money, Finance icons, Icons">
            <a:extLst>
              <a:ext uri="{FF2B5EF4-FFF2-40B4-BE49-F238E27FC236}">
                <a16:creationId xmlns:a16="http://schemas.microsoft.com/office/drawing/2014/main" id="{16310A31-845B-6A0E-985A-73B68F1BB7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0369" y="4695094"/>
            <a:ext cx="901116" cy="90111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Suggestion Icon PNG Images, Vectors Free Download - Pngtree">
            <a:extLst>
              <a:ext uri="{FF2B5EF4-FFF2-40B4-BE49-F238E27FC236}">
                <a16:creationId xmlns:a16="http://schemas.microsoft.com/office/drawing/2014/main" id="{D8C287C6-0ECC-E207-943B-9C883336A498}"/>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056330" y="4695094"/>
            <a:ext cx="823098" cy="82309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descr="Export - Free signs icons">
            <a:extLst>
              <a:ext uri="{FF2B5EF4-FFF2-40B4-BE49-F238E27FC236}">
                <a16:creationId xmlns:a16="http://schemas.microsoft.com/office/drawing/2014/main" id="{3FA5A694-1F23-1516-6906-F7900F3D9E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90281" y="4695095"/>
            <a:ext cx="823098" cy="82309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Brain Icon Images – Browse 1,139,750 Stock Photos, Vectors, and Video |  Adobe Stock">
            <a:extLst>
              <a:ext uri="{FF2B5EF4-FFF2-40B4-BE49-F238E27FC236}">
                <a16:creationId xmlns:a16="http://schemas.microsoft.com/office/drawing/2014/main" id="{EAA12B18-6494-5BCD-EA8B-6295EE3195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63079" y="2781461"/>
            <a:ext cx="755358" cy="75535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descr="Risk Assessment Icons - Free SVG &amp; PNG Risk Assessment ...">
            <a:extLst>
              <a:ext uri="{FF2B5EF4-FFF2-40B4-BE49-F238E27FC236}">
                <a16:creationId xmlns:a16="http://schemas.microsoft.com/office/drawing/2014/main" id="{DCAFDC17-EB9F-B046-4124-4709FBDC3C79}"/>
              </a:ext>
            </a:extLst>
          </p:cNvPr>
          <p:cNvPicPr>
            <a:picLocks noGrp="1" noChangeAspect="1" noChangeArrowheads="1"/>
          </p:cNvPicPr>
          <p:nvPr>
            <p:ph idx="1"/>
          </p:nvPr>
        </p:nvPicPr>
        <p:blipFill>
          <a:blip r:embed="rId8">
            <a:extLst>
              <a:ext uri="{28A0092B-C50C-407E-A947-70E740481C1C}">
                <a14:useLocalDpi xmlns:a14="http://schemas.microsoft.com/office/drawing/2010/main" val="0"/>
              </a:ext>
            </a:extLst>
          </a:blip>
          <a:srcRect/>
          <a:stretch>
            <a:fillRect/>
          </a:stretch>
        </p:blipFill>
        <p:spPr bwMode="auto">
          <a:xfrm>
            <a:off x="2056947" y="2781461"/>
            <a:ext cx="794538" cy="794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97019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A0B48-851D-5F05-212D-38309333DAF4}"/>
              </a:ext>
            </a:extLst>
          </p:cNvPr>
          <p:cNvSpPr>
            <a:spLocks noGrp="1"/>
          </p:cNvSpPr>
          <p:nvPr>
            <p:ph type="title"/>
          </p:nvPr>
        </p:nvSpPr>
        <p:spPr>
          <a:xfrm>
            <a:off x="1295402" y="982132"/>
            <a:ext cx="9601196" cy="1303867"/>
          </a:xfrm>
        </p:spPr>
        <p:txBody>
          <a:bodyPr>
            <a:normAutofit/>
          </a:bodyPr>
          <a:lstStyle/>
          <a:p>
            <a:r>
              <a:rPr lang="en-US" sz="6000" b="1" u="sng" dirty="0"/>
              <a:t>Benefits </a:t>
            </a:r>
          </a:p>
        </p:txBody>
      </p:sp>
      <p:sp>
        <p:nvSpPr>
          <p:cNvPr id="9" name="Rounded Rectangle 8">
            <a:extLst>
              <a:ext uri="{FF2B5EF4-FFF2-40B4-BE49-F238E27FC236}">
                <a16:creationId xmlns:a16="http://schemas.microsoft.com/office/drawing/2014/main" id="{98E72FEA-BFE6-F24C-89D1-1E8D0979E325}"/>
              </a:ext>
            </a:extLst>
          </p:cNvPr>
          <p:cNvSpPr/>
          <p:nvPr/>
        </p:nvSpPr>
        <p:spPr>
          <a:xfrm>
            <a:off x="2074985" y="2479432"/>
            <a:ext cx="2479432" cy="36927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0" name="Rounded Rectangle 9">
            <a:extLst>
              <a:ext uri="{FF2B5EF4-FFF2-40B4-BE49-F238E27FC236}">
                <a16:creationId xmlns:a16="http://schemas.microsoft.com/office/drawing/2014/main" id="{62FC482C-3340-2D44-AE19-0B55AC54C43D}"/>
              </a:ext>
            </a:extLst>
          </p:cNvPr>
          <p:cNvSpPr/>
          <p:nvPr/>
        </p:nvSpPr>
        <p:spPr>
          <a:xfrm>
            <a:off x="4604235" y="2479430"/>
            <a:ext cx="2479432" cy="36927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1" name="Rounded Rectangle 10">
            <a:extLst>
              <a:ext uri="{FF2B5EF4-FFF2-40B4-BE49-F238E27FC236}">
                <a16:creationId xmlns:a16="http://schemas.microsoft.com/office/drawing/2014/main" id="{C8F4887D-4A0C-D763-DFE8-8F266B0885BD}"/>
              </a:ext>
            </a:extLst>
          </p:cNvPr>
          <p:cNvSpPr/>
          <p:nvPr/>
        </p:nvSpPr>
        <p:spPr>
          <a:xfrm>
            <a:off x="7133485" y="2479431"/>
            <a:ext cx="2479432" cy="36927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accent5"/>
              </a:solidFill>
            </a:endParaRPr>
          </a:p>
        </p:txBody>
      </p:sp>
      <p:sp>
        <p:nvSpPr>
          <p:cNvPr id="12" name="TextBox 11">
            <a:extLst>
              <a:ext uri="{FF2B5EF4-FFF2-40B4-BE49-F238E27FC236}">
                <a16:creationId xmlns:a16="http://schemas.microsoft.com/office/drawing/2014/main" id="{CDC9662A-71A6-559D-5F45-C06418358A0A}"/>
              </a:ext>
            </a:extLst>
          </p:cNvPr>
          <p:cNvSpPr txBox="1"/>
          <p:nvPr/>
        </p:nvSpPr>
        <p:spPr>
          <a:xfrm>
            <a:off x="2579083" y="2602524"/>
            <a:ext cx="1622688" cy="738664"/>
          </a:xfrm>
          <a:prstGeom prst="rect">
            <a:avLst/>
          </a:prstGeom>
          <a:noFill/>
        </p:spPr>
        <p:txBody>
          <a:bodyPr wrap="none" rtlCol="0">
            <a:spAutoFit/>
          </a:bodyPr>
          <a:lstStyle/>
          <a:p>
            <a:r>
              <a:rPr lang="en-US" sz="2400" b="1" dirty="0">
                <a:solidFill>
                  <a:srgbClr val="0070C0"/>
                </a:solidFill>
              </a:rPr>
              <a:t>Treatment </a:t>
            </a:r>
          </a:p>
          <a:p>
            <a:endParaRPr lang="en-US" dirty="0"/>
          </a:p>
        </p:txBody>
      </p:sp>
      <p:sp>
        <p:nvSpPr>
          <p:cNvPr id="13" name="TextBox 12">
            <a:extLst>
              <a:ext uri="{FF2B5EF4-FFF2-40B4-BE49-F238E27FC236}">
                <a16:creationId xmlns:a16="http://schemas.microsoft.com/office/drawing/2014/main" id="{ABE55F96-DB03-9DC0-6312-2C200A7A4677}"/>
              </a:ext>
            </a:extLst>
          </p:cNvPr>
          <p:cNvSpPr txBox="1"/>
          <p:nvPr/>
        </p:nvSpPr>
        <p:spPr>
          <a:xfrm>
            <a:off x="5065764" y="2584995"/>
            <a:ext cx="1403974" cy="738664"/>
          </a:xfrm>
          <a:prstGeom prst="rect">
            <a:avLst/>
          </a:prstGeom>
          <a:noFill/>
        </p:spPr>
        <p:txBody>
          <a:bodyPr wrap="none" rtlCol="0">
            <a:spAutoFit/>
          </a:bodyPr>
          <a:lstStyle/>
          <a:p>
            <a:r>
              <a:rPr lang="en-US" sz="2400" b="1" dirty="0">
                <a:solidFill>
                  <a:schemeClr val="accent2">
                    <a:lumMod val="75000"/>
                  </a:schemeClr>
                </a:solidFill>
              </a:rPr>
              <a:t>Payment</a:t>
            </a:r>
            <a:r>
              <a:rPr lang="en-US" sz="2400" dirty="0">
                <a:solidFill>
                  <a:schemeClr val="accent2">
                    <a:lumMod val="75000"/>
                  </a:schemeClr>
                </a:solidFill>
              </a:rPr>
              <a:t> </a:t>
            </a:r>
          </a:p>
          <a:p>
            <a:endParaRPr lang="en-US" dirty="0"/>
          </a:p>
        </p:txBody>
      </p:sp>
      <p:sp>
        <p:nvSpPr>
          <p:cNvPr id="14" name="TextBox 13">
            <a:extLst>
              <a:ext uri="{FF2B5EF4-FFF2-40B4-BE49-F238E27FC236}">
                <a16:creationId xmlns:a16="http://schemas.microsoft.com/office/drawing/2014/main" id="{55E14B9E-C37B-9FEF-10D2-582D0CB97C12}"/>
              </a:ext>
            </a:extLst>
          </p:cNvPr>
          <p:cNvSpPr txBox="1"/>
          <p:nvPr/>
        </p:nvSpPr>
        <p:spPr>
          <a:xfrm>
            <a:off x="7509823" y="2523440"/>
            <a:ext cx="1726755" cy="800219"/>
          </a:xfrm>
          <a:prstGeom prst="rect">
            <a:avLst/>
          </a:prstGeom>
          <a:noFill/>
        </p:spPr>
        <p:txBody>
          <a:bodyPr wrap="none" rtlCol="0">
            <a:spAutoFit/>
          </a:bodyPr>
          <a:lstStyle/>
          <a:p>
            <a:r>
              <a:rPr lang="en-US" sz="2400" b="1" dirty="0">
                <a:solidFill>
                  <a:schemeClr val="accent5"/>
                </a:solidFill>
              </a:rPr>
              <a:t>Operations</a:t>
            </a:r>
            <a:r>
              <a:rPr lang="en-US" sz="2800" b="1" dirty="0">
                <a:solidFill>
                  <a:schemeClr val="accent5"/>
                </a:solidFill>
              </a:rPr>
              <a:t> </a:t>
            </a:r>
          </a:p>
          <a:p>
            <a:endParaRPr lang="en-US" dirty="0"/>
          </a:p>
        </p:txBody>
      </p:sp>
      <p:pic>
        <p:nvPicPr>
          <p:cNvPr id="15" name="Picture 2" descr="Hospital - Free medical icons">
            <a:extLst>
              <a:ext uri="{FF2B5EF4-FFF2-40B4-BE49-F238E27FC236}">
                <a16:creationId xmlns:a16="http://schemas.microsoft.com/office/drawing/2014/main" id="{40587DBB-BCB6-ECDB-1C88-04987046B85F}"/>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936571" y="3050870"/>
            <a:ext cx="756260" cy="75626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Save money - Free business and finance icons">
            <a:extLst>
              <a:ext uri="{FF2B5EF4-FFF2-40B4-BE49-F238E27FC236}">
                <a16:creationId xmlns:a16="http://schemas.microsoft.com/office/drawing/2014/main" id="{94470118-4A0B-202C-8772-B7887DF7D7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8700" y="2979830"/>
            <a:ext cx="827300" cy="8273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Configuration and setting icon concept in orange color ...">
            <a:extLst>
              <a:ext uri="{FF2B5EF4-FFF2-40B4-BE49-F238E27FC236}">
                <a16:creationId xmlns:a16="http://schemas.microsoft.com/office/drawing/2014/main" id="{5E453D04-2F9A-AC4D-ED6D-8DAEE4F214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3754" y="2979830"/>
            <a:ext cx="756130" cy="75613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6D715BA-1751-448D-94A5-36519E0ABC57}"/>
              </a:ext>
            </a:extLst>
          </p:cNvPr>
          <p:cNvSpPr txBox="1"/>
          <p:nvPr/>
        </p:nvSpPr>
        <p:spPr>
          <a:xfrm>
            <a:off x="2139603" y="4066335"/>
            <a:ext cx="2062167"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Faster Clinical review </a:t>
            </a:r>
          </a:p>
          <a:p>
            <a:pPr marL="285750" indent="-285750">
              <a:buFont typeface="Arial" panose="020B0604020202020204" pitchFamily="34" charset="0"/>
              <a:buChar char="•"/>
            </a:pPr>
            <a:r>
              <a:rPr lang="en-US" sz="2000" dirty="0"/>
              <a:t>Risk prioritization </a:t>
            </a:r>
          </a:p>
          <a:p>
            <a:pPr marL="285750" indent="-285750">
              <a:buFont typeface="Arial" panose="020B0604020202020204" pitchFamily="34" charset="0"/>
              <a:buChar char="•"/>
            </a:pPr>
            <a:r>
              <a:rPr lang="en-US" sz="2000" dirty="0"/>
              <a:t>Decision support </a:t>
            </a:r>
          </a:p>
        </p:txBody>
      </p:sp>
      <p:sp>
        <p:nvSpPr>
          <p:cNvPr id="21" name="TextBox 20">
            <a:extLst>
              <a:ext uri="{FF2B5EF4-FFF2-40B4-BE49-F238E27FC236}">
                <a16:creationId xmlns:a16="http://schemas.microsoft.com/office/drawing/2014/main" id="{6B013CB0-2738-2148-2CB5-CE7CACC28ECA}"/>
              </a:ext>
            </a:extLst>
          </p:cNvPr>
          <p:cNvSpPr txBox="1"/>
          <p:nvPr/>
        </p:nvSpPr>
        <p:spPr>
          <a:xfrm>
            <a:off x="4841628" y="4066335"/>
            <a:ext cx="2004646"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Better documentation</a:t>
            </a:r>
          </a:p>
          <a:p>
            <a:pPr marL="285750" indent="-285750">
              <a:buFont typeface="Arial" panose="020B0604020202020204" pitchFamily="34" charset="0"/>
              <a:buChar char="•"/>
            </a:pPr>
            <a:r>
              <a:rPr lang="en-US" sz="2000" dirty="0"/>
              <a:t>Payment integrity </a:t>
            </a:r>
          </a:p>
          <a:p>
            <a:pPr marL="285750" indent="-285750">
              <a:buFont typeface="Arial" panose="020B0604020202020204" pitchFamily="34" charset="0"/>
              <a:buChar char="•"/>
            </a:pPr>
            <a:r>
              <a:rPr lang="en-US" sz="2000" dirty="0"/>
              <a:t>Coding consistency </a:t>
            </a:r>
          </a:p>
        </p:txBody>
      </p:sp>
      <p:sp>
        <p:nvSpPr>
          <p:cNvPr id="22" name="TextBox 21">
            <a:extLst>
              <a:ext uri="{FF2B5EF4-FFF2-40B4-BE49-F238E27FC236}">
                <a16:creationId xmlns:a16="http://schemas.microsoft.com/office/drawing/2014/main" id="{F58BE2BE-27E3-2BAB-8ABF-69ABD58DAB56}"/>
              </a:ext>
            </a:extLst>
          </p:cNvPr>
          <p:cNvSpPr txBox="1"/>
          <p:nvPr/>
        </p:nvSpPr>
        <p:spPr>
          <a:xfrm>
            <a:off x="7345967" y="4066335"/>
            <a:ext cx="2054465"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Improved workflow </a:t>
            </a:r>
          </a:p>
          <a:p>
            <a:pPr marL="285750" indent="-285750">
              <a:buFont typeface="Arial" panose="020B0604020202020204" pitchFamily="34" charset="0"/>
              <a:buChar char="•"/>
            </a:pPr>
            <a:r>
              <a:rPr lang="en-US" sz="2000" dirty="0"/>
              <a:t>Resource planning </a:t>
            </a:r>
          </a:p>
          <a:p>
            <a:pPr marL="285750" indent="-285750">
              <a:buFont typeface="Arial" panose="020B0604020202020204" pitchFamily="34" charset="0"/>
              <a:buChar char="•"/>
            </a:pPr>
            <a:r>
              <a:rPr lang="en-US" sz="2000" dirty="0"/>
              <a:t>Operational efficiency </a:t>
            </a:r>
          </a:p>
        </p:txBody>
      </p:sp>
    </p:spTree>
    <p:extLst>
      <p:ext uri="{BB962C8B-B14F-4D97-AF65-F5344CB8AC3E}">
        <p14:creationId xmlns:p14="http://schemas.microsoft.com/office/powerpoint/2010/main" val="46968606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402E5-A08E-24B5-77BB-81C74EFA22B6}"/>
              </a:ext>
            </a:extLst>
          </p:cNvPr>
          <p:cNvSpPr>
            <a:spLocks noGrp="1"/>
          </p:cNvSpPr>
          <p:nvPr>
            <p:ph type="title"/>
          </p:nvPr>
        </p:nvSpPr>
        <p:spPr/>
        <p:txBody>
          <a:bodyPr/>
          <a:lstStyle/>
          <a:p>
            <a:r>
              <a:rPr lang="en-US" b="1" u="sng" dirty="0"/>
              <a:t>Future Improvements </a:t>
            </a:r>
          </a:p>
        </p:txBody>
      </p:sp>
      <p:sp>
        <p:nvSpPr>
          <p:cNvPr id="13" name="TextBox 12">
            <a:extLst>
              <a:ext uri="{FF2B5EF4-FFF2-40B4-BE49-F238E27FC236}">
                <a16:creationId xmlns:a16="http://schemas.microsoft.com/office/drawing/2014/main" id="{548CBF3D-030F-35E1-3C65-550DBEA0DE21}"/>
              </a:ext>
            </a:extLst>
          </p:cNvPr>
          <p:cNvSpPr txBox="1"/>
          <p:nvPr/>
        </p:nvSpPr>
        <p:spPr>
          <a:xfrm>
            <a:off x="1541587" y="4378569"/>
            <a:ext cx="1432443" cy="923330"/>
          </a:xfrm>
          <a:prstGeom prst="rect">
            <a:avLst/>
          </a:prstGeom>
          <a:noFill/>
        </p:spPr>
        <p:txBody>
          <a:bodyPr wrap="none" rtlCol="0">
            <a:spAutoFit/>
          </a:bodyPr>
          <a:lstStyle/>
          <a:p>
            <a:r>
              <a:rPr lang="en-US" dirty="0"/>
              <a:t>Electronic</a:t>
            </a:r>
          </a:p>
          <a:p>
            <a:r>
              <a:rPr lang="en-US" dirty="0"/>
              <a:t>Heath Record</a:t>
            </a:r>
          </a:p>
          <a:p>
            <a:r>
              <a:rPr lang="en-US" dirty="0"/>
              <a:t>Integration </a:t>
            </a:r>
          </a:p>
        </p:txBody>
      </p:sp>
      <p:sp>
        <p:nvSpPr>
          <p:cNvPr id="14" name="TextBox 13">
            <a:extLst>
              <a:ext uri="{FF2B5EF4-FFF2-40B4-BE49-F238E27FC236}">
                <a16:creationId xmlns:a16="http://schemas.microsoft.com/office/drawing/2014/main" id="{94BAAABA-9C20-6349-0A2A-1F59AE036292}"/>
              </a:ext>
            </a:extLst>
          </p:cNvPr>
          <p:cNvSpPr txBox="1"/>
          <p:nvPr/>
        </p:nvSpPr>
        <p:spPr>
          <a:xfrm>
            <a:off x="3956128" y="4378569"/>
            <a:ext cx="2004646" cy="923330"/>
          </a:xfrm>
          <a:prstGeom prst="rect">
            <a:avLst/>
          </a:prstGeom>
          <a:noFill/>
        </p:spPr>
        <p:txBody>
          <a:bodyPr wrap="square" rtlCol="0">
            <a:spAutoFit/>
          </a:bodyPr>
          <a:lstStyle/>
          <a:p>
            <a:r>
              <a:rPr lang="en-US" dirty="0"/>
              <a:t>Large</a:t>
            </a:r>
          </a:p>
          <a:p>
            <a:r>
              <a:rPr lang="en-US" dirty="0"/>
              <a:t>Language </a:t>
            </a:r>
          </a:p>
          <a:p>
            <a:r>
              <a:rPr lang="en-US" dirty="0"/>
              <a:t>Models </a:t>
            </a:r>
          </a:p>
        </p:txBody>
      </p:sp>
      <p:sp>
        <p:nvSpPr>
          <p:cNvPr id="15" name="TextBox 14">
            <a:extLst>
              <a:ext uri="{FF2B5EF4-FFF2-40B4-BE49-F238E27FC236}">
                <a16:creationId xmlns:a16="http://schemas.microsoft.com/office/drawing/2014/main" id="{B20B804E-6FFE-797D-BF45-523BAC8FB35D}"/>
              </a:ext>
            </a:extLst>
          </p:cNvPr>
          <p:cNvSpPr txBox="1"/>
          <p:nvPr/>
        </p:nvSpPr>
        <p:spPr>
          <a:xfrm>
            <a:off x="6328235" y="4378569"/>
            <a:ext cx="2004646" cy="646331"/>
          </a:xfrm>
          <a:prstGeom prst="rect">
            <a:avLst/>
          </a:prstGeom>
          <a:noFill/>
        </p:spPr>
        <p:txBody>
          <a:bodyPr wrap="square" rtlCol="0">
            <a:spAutoFit/>
          </a:bodyPr>
          <a:lstStyle/>
          <a:p>
            <a:r>
              <a:rPr lang="en-US" dirty="0"/>
              <a:t>Predictive </a:t>
            </a:r>
          </a:p>
          <a:p>
            <a:r>
              <a:rPr lang="en-US" dirty="0"/>
              <a:t>Analytics </a:t>
            </a:r>
          </a:p>
        </p:txBody>
      </p:sp>
      <p:sp>
        <p:nvSpPr>
          <p:cNvPr id="16" name="TextBox 15">
            <a:extLst>
              <a:ext uri="{FF2B5EF4-FFF2-40B4-BE49-F238E27FC236}">
                <a16:creationId xmlns:a16="http://schemas.microsoft.com/office/drawing/2014/main" id="{50416040-387E-ECD0-D543-97542D0176E6}"/>
              </a:ext>
            </a:extLst>
          </p:cNvPr>
          <p:cNvSpPr txBox="1"/>
          <p:nvPr/>
        </p:nvSpPr>
        <p:spPr>
          <a:xfrm>
            <a:off x="8622326" y="4378569"/>
            <a:ext cx="2004646" cy="923330"/>
          </a:xfrm>
          <a:prstGeom prst="rect">
            <a:avLst/>
          </a:prstGeom>
          <a:noFill/>
        </p:spPr>
        <p:txBody>
          <a:bodyPr wrap="square" rtlCol="0">
            <a:spAutoFit/>
          </a:bodyPr>
          <a:lstStyle/>
          <a:p>
            <a:r>
              <a:rPr lang="en-US" dirty="0"/>
              <a:t>Multilingual </a:t>
            </a:r>
          </a:p>
          <a:p>
            <a:r>
              <a:rPr lang="en-US" dirty="0"/>
              <a:t>Patient </a:t>
            </a:r>
          </a:p>
          <a:p>
            <a:r>
              <a:rPr lang="en-US" dirty="0"/>
              <a:t>Support </a:t>
            </a:r>
          </a:p>
        </p:txBody>
      </p:sp>
      <p:pic>
        <p:nvPicPr>
          <p:cNvPr id="17" name="Picture 4" descr="Electronic health record icon Vector Images | DepositPhotos">
            <a:extLst>
              <a:ext uri="{FF2B5EF4-FFF2-40B4-BE49-F238E27FC236}">
                <a16:creationId xmlns:a16="http://schemas.microsoft.com/office/drawing/2014/main" id="{39A7DC36-FF53-A5C8-E915-6E5038F39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2" y="2883877"/>
            <a:ext cx="1432443" cy="143244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0" descr="Analytics - Free business and finance icons">
            <a:extLst>
              <a:ext uri="{FF2B5EF4-FFF2-40B4-BE49-F238E27FC236}">
                <a16:creationId xmlns:a16="http://schemas.microsoft.com/office/drawing/2014/main" id="{CF3BAC5D-892A-F641-2739-F12B8EBCC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2995246"/>
            <a:ext cx="1242646" cy="124264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2" descr="Multilingual support multi color concept icon. Availability in various  languages. Quality of medical service. Round shape line illustration.  Abstract idea. Graphic design. Easy to use in presentation 59662830 Vector  Art at Vecteezy">
            <a:extLst>
              <a:ext uri="{FF2B5EF4-FFF2-40B4-BE49-F238E27FC236}">
                <a16:creationId xmlns:a16="http://schemas.microsoft.com/office/drawing/2014/main" id="{10AD9011-C987-6737-0FCC-85116216D8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4834" y="2784231"/>
            <a:ext cx="1664677" cy="1664677"/>
          </a:xfrm>
          <a:prstGeom prst="rect">
            <a:avLst/>
          </a:prstGeom>
          <a:noFill/>
          <a:extLst>
            <a:ext uri="{909E8E84-426E-40DD-AFC4-6F175D3DCCD1}">
              <a14:hiddenFill xmlns:a14="http://schemas.microsoft.com/office/drawing/2010/main">
                <a:solidFill>
                  <a:srgbClr val="FFFFFF"/>
                </a:solidFill>
              </a14:hiddenFill>
            </a:ext>
          </a:extLst>
        </p:spPr>
      </p:pic>
      <p:sp>
        <p:nvSpPr>
          <p:cNvPr id="21" name="Right Arrow 20">
            <a:extLst>
              <a:ext uri="{FF2B5EF4-FFF2-40B4-BE49-F238E27FC236}">
                <a16:creationId xmlns:a16="http://schemas.microsoft.com/office/drawing/2014/main" id="{83271C15-F6E4-6DBD-5172-2ECFC2F69C7B}"/>
              </a:ext>
            </a:extLst>
          </p:cNvPr>
          <p:cNvSpPr/>
          <p:nvPr/>
        </p:nvSpPr>
        <p:spPr>
          <a:xfrm>
            <a:off x="3001522" y="3488729"/>
            <a:ext cx="578062" cy="28135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E3A7586F-64EE-8F81-9637-CC4B2371B504}"/>
              </a:ext>
            </a:extLst>
          </p:cNvPr>
          <p:cNvSpPr/>
          <p:nvPr/>
        </p:nvSpPr>
        <p:spPr>
          <a:xfrm>
            <a:off x="5356539" y="3488729"/>
            <a:ext cx="613235" cy="28135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1BDE5C1A-A85E-649C-DF29-EA3CFD12BBE4}"/>
              </a:ext>
            </a:extLst>
          </p:cNvPr>
          <p:cNvSpPr/>
          <p:nvPr/>
        </p:nvSpPr>
        <p:spPr>
          <a:xfrm flipV="1">
            <a:off x="7829199" y="3557954"/>
            <a:ext cx="578062" cy="3048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4" descr="Brain Icon Images – Browse 1,139,750 Stock Photos, Vectors, and Video |  Adobe Stock">
            <a:extLst>
              <a:ext uri="{FF2B5EF4-FFF2-40B4-BE49-F238E27FC236}">
                <a16:creationId xmlns:a16="http://schemas.microsoft.com/office/drawing/2014/main" id="{5B014DFA-A079-FD2B-1CEA-906B3A6A74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1537" y="2974028"/>
            <a:ext cx="1242646" cy="1242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31046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4118" name="Rectangle 4117">
            <a:extLst>
              <a:ext uri="{FF2B5EF4-FFF2-40B4-BE49-F238E27FC236}">
                <a16:creationId xmlns:a16="http://schemas.microsoft.com/office/drawing/2014/main" id="{278BC618-3289-4C64-902D-506AF437E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a:stretch/>
          </a:blipFill>
          <a:ln w="15875" cap="flat" cmpd="sng" algn="ctr">
            <a:solidFill>
              <a:srgbClr val="AB946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pic>
        <p:nvPicPr>
          <p:cNvPr id="4120" name="Picture 4119">
            <a:extLst>
              <a:ext uri="{FF2B5EF4-FFF2-40B4-BE49-F238E27FC236}">
                <a16:creationId xmlns:a16="http://schemas.microsoft.com/office/drawing/2014/main" id="{133D31B1-9C37-4542-80D3-7B54026F2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4147" name="Straight Connector 4146">
            <a:extLst>
              <a:ext uri="{FF2B5EF4-FFF2-40B4-BE49-F238E27FC236}">
                <a16:creationId xmlns:a16="http://schemas.microsoft.com/office/drawing/2014/main" id="{10D273FA-71CB-4AEB-8F60-67AB3375E3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9AB09DC-7A58-C52A-3E2B-A48F43100271}"/>
              </a:ext>
            </a:extLst>
          </p:cNvPr>
          <p:cNvSpPr txBox="1"/>
          <p:nvPr/>
        </p:nvSpPr>
        <p:spPr>
          <a:xfrm>
            <a:off x="4988170" y="1632092"/>
            <a:ext cx="2749061" cy="769441"/>
          </a:xfrm>
          <a:prstGeom prst="rect">
            <a:avLst/>
          </a:prstGeom>
          <a:noFill/>
        </p:spPr>
        <p:txBody>
          <a:bodyPr wrap="square" rtlCol="0">
            <a:spAutoFit/>
          </a:bodyPr>
          <a:lstStyle/>
          <a:p>
            <a:pPr>
              <a:spcBef>
                <a:spcPct val="20000"/>
              </a:spcBef>
              <a:spcAft>
                <a:spcPts val="600"/>
              </a:spcAft>
              <a:buClr>
                <a:schemeClr val="accent1"/>
              </a:buClr>
              <a:buSzPct val="115000"/>
            </a:pPr>
            <a:r>
              <a:rPr lang="en-US" sz="4400" u="sng">
                <a:solidFill>
                  <a:schemeClr val="tx1">
                    <a:lumMod val="85000"/>
                    <a:lumOff val="15000"/>
                  </a:schemeClr>
                </a:solidFill>
              </a:rPr>
              <a:t>Conclusion </a:t>
            </a:r>
            <a:endParaRPr lang="en-US" sz="4400" u="sng" dirty="0">
              <a:solidFill>
                <a:schemeClr val="tx1">
                  <a:lumMod val="85000"/>
                  <a:lumOff val="15000"/>
                </a:schemeClr>
              </a:solidFill>
            </a:endParaRPr>
          </a:p>
        </p:txBody>
      </p:sp>
      <p:graphicFrame>
        <p:nvGraphicFramePr>
          <p:cNvPr id="4124" name="TextBox 8">
            <a:extLst>
              <a:ext uri="{FF2B5EF4-FFF2-40B4-BE49-F238E27FC236}">
                <a16:creationId xmlns:a16="http://schemas.microsoft.com/office/drawing/2014/main" id="{D07A2C0C-226E-2407-57E5-89CA9B24E154}"/>
              </a:ext>
            </a:extLst>
          </p:cNvPr>
          <p:cNvGraphicFramePr/>
          <p:nvPr>
            <p:extLst>
              <p:ext uri="{D42A27DB-BD31-4B8C-83A1-F6EECF244321}">
                <p14:modId xmlns:p14="http://schemas.microsoft.com/office/powerpoint/2010/main" val="2436178997"/>
              </p:ext>
            </p:extLst>
          </p:nvPr>
        </p:nvGraphicFramePr>
        <p:xfrm>
          <a:off x="1295401" y="1803749"/>
          <a:ext cx="9601196" cy="450936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3" name="Rounded Rectangle 12">
            <a:extLst>
              <a:ext uri="{FF2B5EF4-FFF2-40B4-BE49-F238E27FC236}">
                <a16:creationId xmlns:a16="http://schemas.microsoft.com/office/drawing/2014/main" id="{4C4BD812-0457-F981-A11E-C3A31E22740A}"/>
              </a:ext>
            </a:extLst>
          </p:cNvPr>
          <p:cNvSpPr/>
          <p:nvPr/>
        </p:nvSpPr>
        <p:spPr>
          <a:xfrm>
            <a:off x="2323170" y="4039431"/>
            <a:ext cx="7850459" cy="215273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4" name="TextBox 13">
            <a:extLst>
              <a:ext uri="{FF2B5EF4-FFF2-40B4-BE49-F238E27FC236}">
                <a16:creationId xmlns:a16="http://schemas.microsoft.com/office/drawing/2014/main" id="{10A4308B-1E35-3CA4-E6C5-62DEBB7082F7}"/>
              </a:ext>
            </a:extLst>
          </p:cNvPr>
          <p:cNvSpPr txBox="1"/>
          <p:nvPr/>
        </p:nvSpPr>
        <p:spPr>
          <a:xfrm>
            <a:off x="5405498" y="4308954"/>
            <a:ext cx="4359058" cy="923330"/>
          </a:xfrm>
          <a:prstGeom prst="rect">
            <a:avLst/>
          </a:prstGeom>
          <a:noFill/>
        </p:spPr>
        <p:txBody>
          <a:bodyPr wrap="square" rtlCol="0">
            <a:spAutoFit/>
          </a:bodyPr>
          <a:lstStyle/>
          <a:p>
            <a:r>
              <a:rPr lang="en-US" sz="3600" b="1" dirty="0">
                <a:solidFill>
                  <a:srgbClr val="002060"/>
                </a:solidFill>
              </a:rPr>
              <a:t>Thank You!</a:t>
            </a:r>
            <a:endParaRPr lang="en-US" b="1" dirty="0">
              <a:solidFill>
                <a:srgbClr val="002060"/>
              </a:solidFill>
            </a:endParaRPr>
          </a:p>
          <a:p>
            <a:r>
              <a:rPr lang="en-US" dirty="0"/>
              <a:t>          Questions?</a:t>
            </a:r>
          </a:p>
        </p:txBody>
      </p:sp>
      <p:sp>
        <p:nvSpPr>
          <p:cNvPr id="15" name="TextBox 14">
            <a:extLst>
              <a:ext uri="{FF2B5EF4-FFF2-40B4-BE49-F238E27FC236}">
                <a16:creationId xmlns:a16="http://schemas.microsoft.com/office/drawing/2014/main" id="{6972F9C6-454A-B04D-C278-C7DEA1B46107}"/>
              </a:ext>
            </a:extLst>
          </p:cNvPr>
          <p:cNvSpPr txBox="1"/>
          <p:nvPr/>
        </p:nvSpPr>
        <p:spPr>
          <a:xfrm>
            <a:off x="2803249" y="5421465"/>
            <a:ext cx="3179653" cy="646331"/>
          </a:xfrm>
          <a:prstGeom prst="rect">
            <a:avLst/>
          </a:prstGeom>
          <a:noFill/>
        </p:spPr>
        <p:txBody>
          <a:bodyPr wrap="none" rtlCol="0">
            <a:spAutoFit/>
          </a:bodyPr>
          <a:lstStyle/>
          <a:p>
            <a:r>
              <a:rPr lang="en-US" dirty="0">
                <a:solidFill>
                  <a:srgbClr val="0070C0"/>
                </a:solidFill>
              </a:rPr>
              <a:t>       Misgana Okbagaber </a:t>
            </a:r>
          </a:p>
          <a:p>
            <a:r>
              <a:rPr lang="en-US" dirty="0"/>
              <a:t>           University of Washington </a:t>
            </a:r>
          </a:p>
        </p:txBody>
      </p:sp>
      <p:pic>
        <p:nvPicPr>
          <p:cNvPr id="17" name="Picture 26" descr="Person Icon Vector Symbol Design Illustration 26625600 ...">
            <a:extLst>
              <a:ext uri="{FF2B5EF4-FFF2-40B4-BE49-F238E27FC236}">
                <a16:creationId xmlns:a16="http://schemas.microsoft.com/office/drawing/2014/main" id="{CE0D85E4-143C-F31C-3AFB-95ECFEFF9CA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76908" y="5404097"/>
            <a:ext cx="646331" cy="64633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8" descr="Download Python Logo Free PNG photo images and clipart | FreePNGimg">
            <a:extLst>
              <a:ext uri="{FF2B5EF4-FFF2-40B4-BE49-F238E27FC236}">
                <a16:creationId xmlns:a16="http://schemas.microsoft.com/office/drawing/2014/main" id="{B5E4A80C-4E8A-1A2F-6BA4-59C2F8146A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98237" y="4408965"/>
            <a:ext cx="1575588" cy="1575588"/>
          </a:xfrm>
          <a:prstGeom prst="rect">
            <a:avLst/>
          </a:prstGeom>
          <a:noFill/>
          <a:extLst>
            <a:ext uri="{909E8E84-426E-40DD-AFC4-6F175D3DCCD1}">
              <a14:hiddenFill xmlns:a14="http://schemas.microsoft.com/office/drawing/2010/main">
                <a:solidFill>
                  <a:srgbClr val="FFFFFF"/>
                </a:solidFill>
              </a14:hiddenFill>
            </a:ext>
          </a:extLst>
        </p:spPr>
      </p:pic>
      <p:sp>
        <p:nvSpPr>
          <p:cNvPr id="19" name="AutoShape 30" descr="Streamlit - NamuWiki">
            <a:extLst>
              <a:ext uri="{FF2B5EF4-FFF2-40B4-BE49-F238E27FC236}">
                <a16:creationId xmlns:a16="http://schemas.microsoft.com/office/drawing/2014/main" id="{DB1EB8E2-08C5-1D1D-7777-6C230930B2BD}"/>
              </a:ext>
            </a:extLst>
          </p:cNvPr>
          <p:cNvSpPr>
            <a:spLocks noChangeAspect="1" noChangeArrowheads="1"/>
          </p:cNvSpPr>
          <p:nvPr/>
        </p:nvSpPr>
        <p:spPr bwMode="auto">
          <a:xfrm>
            <a:off x="5943599" y="1964473"/>
            <a:ext cx="1616927" cy="16169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32" descr="Streamlit - NamuWiki">
            <a:extLst>
              <a:ext uri="{FF2B5EF4-FFF2-40B4-BE49-F238E27FC236}">
                <a16:creationId xmlns:a16="http://schemas.microsoft.com/office/drawing/2014/main" id="{30691688-DB05-E571-95CD-5D96BBA39B4A}"/>
              </a:ext>
            </a:extLst>
          </p:cNvPr>
          <p:cNvSpPr>
            <a:spLocks noChangeAspect="1" noChangeArrowheads="1"/>
          </p:cNvSpPr>
          <p:nvPr/>
        </p:nvSpPr>
        <p:spPr bwMode="auto">
          <a:xfrm>
            <a:off x="5943599" y="1787769"/>
            <a:ext cx="1793631" cy="179363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AutoShape 34" descr="Streamlit - NamuWiki">
            <a:extLst>
              <a:ext uri="{FF2B5EF4-FFF2-40B4-BE49-F238E27FC236}">
                <a16:creationId xmlns:a16="http://schemas.microsoft.com/office/drawing/2014/main" id="{476CE6F1-1682-562E-917D-CDD5288739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32" name="Picture 36" descr="Building and Deploying Snowflake and Streamlit Applications">
            <a:extLst>
              <a:ext uri="{FF2B5EF4-FFF2-40B4-BE49-F238E27FC236}">
                <a16:creationId xmlns:a16="http://schemas.microsoft.com/office/drawing/2014/main" id="{925CFCB8-0158-D3EA-79DA-754DD104D5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36215" y="5282967"/>
            <a:ext cx="1578422" cy="923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1494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Gallery</Template>
  <TotalTime>14265</TotalTime>
  <Words>208</Words>
  <Application>Microsoft Macintosh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Garamond</vt:lpstr>
      <vt:lpstr>Organic</vt:lpstr>
      <vt:lpstr>Cotiviti Clinical Intelligence Platform</vt:lpstr>
      <vt:lpstr>Problem Statement </vt:lpstr>
      <vt:lpstr>Solution </vt:lpstr>
      <vt:lpstr>Technologies Used </vt:lpstr>
      <vt:lpstr>System Workflow </vt:lpstr>
      <vt:lpstr>Proof of Concept </vt:lpstr>
      <vt:lpstr>Key Features </vt:lpstr>
      <vt:lpstr>Benefits </vt:lpstr>
      <vt:lpstr>Future Improvements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Misgana Okbagaber</dc:creator>
  <cp:lastModifiedBy>Misgana Okbagaber</cp:lastModifiedBy>
  <cp:revision>3</cp:revision>
  <cp:lastPrinted>2026-07-09T22:22:49Z</cp:lastPrinted>
  <dcterms:created xsi:type="dcterms:W3CDTF">2026-07-04T02:02:53Z</dcterms:created>
  <dcterms:modified xsi:type="dcterms:W3CDTF">2026-07-24T05:08:34Z</dcterms:modified>
</cp:coreProperties>
</file>